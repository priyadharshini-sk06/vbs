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0"/>
  </p:notesMasterIdLst>
  <p:handoutMasterIdLst>
    <p:handoutMasterId r:id="rId21"/>
  </p:handoutMasterIdLst>
  <p:sldIdLst>
    <p:sldId id="274" r:id="rId5"/>
    <p:sldId id="275" r:id="rId6"/>
    <p:sldId id="276" r:id="rId7"/>
    <p:sldId id="278" r:id="rId8"/>
    <p:sldId id="277" r:id="rId9"/>
    <p:sldId id="271" r:id="rId10"/>
    <p:sldId id="280" r:id="rId11"/>
    <p:sldId id="281" r:id="rId12"/>
    <p:sldId id="287" r:id="rId13"/>
    <p:sldId id="282" r:id="rId14"/>
    <p:sldId id="283" r:id="rId15"/>
    <p:sldId id="284" r:id="rId16"/>
    <p:sldId id="279" r:id="rId17"/>
    <p:sldId id="286" r:id="rId18"/>
    <p:sldId id="285" r:id="rId19"/>
  </p:sldIdLst>
  <p:sldSz cx="9144000" cy="6858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3" Type="http://schemas.openxmlformats.org/officeDocument/2006/relationships/customXml" Target="../customXml/item3.xml" /><Relationship Id="rId21" Type="http://schemas.openxmlformats.org/officeDocument/2006/relationships/handoutMaster" Target="handoutMasters/handoutMaster1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tableStyles" Target="tableStyles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notesMaster" Target="notesMasters/notesMaster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theme" Target="theme/theme1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viewProps" Target="viewProps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presProps" Target="pres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55C356-87C3-46C0-9BE5-0C438CD860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84F9A-0678-4D9D-A6DE-5580339F30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466B4-265E-45CE-96BF-654B8C3EDD3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FA5588-4D70-4A31-96A1-E7657C5224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93C42-755E-447B-990E-F4CE9365EF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836DF-17F6-4050-BFA7-2C163529D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46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2C8C0-3D92-43D9-9A29-981FA6744B0E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B92B7-C405-42F2-A911-E7C15F1E4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1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1E5D-B2CA-4340-A705-A178FDF0C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660125"/>
            <a:ext cx="7886700" cy="1325563"/>
          </a:xfrm>
        </p:spPr>
        <p:txBody>
          <a:bodyPr>
            <a:noAutofit/>
          </a:bodyPr>
          <a:lstStyle>
            <a:lvl1pPr>
              <a:defRPr sz="9600" cap="all" spc="600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/>
              <a:t>WELCOME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373CE0CF-8E13-4F8A-93AD-BFB4E9340D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828453"/>
            <a:ext cx="7886700" cy="831672"/>
          </a:xfrm>
        </p:spPr>
        <p:txBody>
          <a:bodyPr anchor="ctr">
            <a:noAutofit/>
          </a:bodyPr>
          <a:lstStyle>
            <a:lvl1pPr>
              <a:defRPr sz="7600" cap="all" spc="3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BRIDE + GROOM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C30CCB5B-985D-4B0C-A0DE-92677D62C2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3912" y="5344232"/>
            <a:ext cx="2416176" cy="6477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10.25.20</a:t>
            </a:r>
          </a:p>
        </p:txBody>
      </p:sp>
    </p:spTree>
    <p:extLst>
      <p:ext uri="{BB962C8B-B14F-4D97-AF65-F5344CB8AC3E}">
        <p14:creationId xmlns:p14="http://schemas.microsoft.com/office/powerpoint/2010/main" val="3656138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hearsal Dinner 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7381769-0636-4172-A65E-09315A1C3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660125"/>
            <a:ext cx="7886700" cy="1325563"/>
          </a:xfrm>
        </p:spPr>
        <p:txBody>
          <a:bodyPr>
            <a:noAutofit/>
          </a:bodyPr>
          <a:lstStyle>
            <a:lvl1pPr>
              <a:defRPr sz="9600" cap="all" spc="600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/>
              <a:t>WELCOME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E042F-2C9E-4BD8-BBCF-A6E8008D3B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2813" y="3947588"/>
            <a:ext cx="7318375" cy="647700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To Our Rehearsal Dinner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8596483-105B-4735-A7BA-F5D0853F0D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828453"/>
            <a:ext cx="7886700" cy="831672"/>
          </a:xfrm>
        </p:spPr>
        <p:txBody>
          <a:bodyPr anchor="ctr">
            <a:noAutofit/>
          </a:bodyPr>
          <a:lstStyle>
            <a:lvl1pPr>
              <a:defRPr sz="7600" cap="all" spc="3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BRIDE + GROOM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27213878-DC22-442E-B6C8-DAF47CB241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3912" y="5344232"/>
            <a:ext cx="2416176" cy="6477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10.25.XX</a:t>
            </a:r>
          </a:p>
        </p:txBody>
      </p:sp>
    </p:spTree>
    <p:extLst>
      <p:ext uri="{BB962C8B-B14F-4D97-AF65-F5344CB8AC3E}">
        <p14:creationId xmlns:p14="http://schemas.microsoft.com/office/powerpoint/2010/main" val="76105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atin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2223-1A83-4FF8-848D-F9FD64B51C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60861"/>
            <a:ext cx="7315200" cy="832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400" b="0" cap="all" spc="0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/>
              <a:t>FIND YOUR SEAT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CE749E3-50F7-43AA-8078-217DA822E7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728997"/>
            <a:ext cx="7314676" cy="83201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0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BRIDE + GROOM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92CAD29-00A6-4176-92C3-ECBA996ED7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57801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TABLE 1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C406AE24-E5AD-4AD9-86D9-3A46A0EBA3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73543" y="2757801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TABLE 2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F473BF3A-5E89-42F3-A9B9-16318E970E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14763" y="2757801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TABLE 3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1050BD6-5687-45FB-9A43-127691F836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787539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TABLE 4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612E2008-796B-49AC-843C-456B3AFA4E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66197" y="4787539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TABLE 5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D5D93309-F741-40BE-903F-0D6999BF1C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14763" y="4787539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TABLE 6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3F045C1D-806B-4CD2-B443-C1E467A731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52310" y="2762877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TABLE 3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153BF21F-29A6-447A-BE43-61D1DD3D69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52310" y="4792615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TABLE 6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8C32B373-7F2D-474D-9A64-1AB31886AF9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296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Enter guests names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B559BF0E-B8DB-4078-8BFB-82CE6A433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87264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Enter guests names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14BD57D5-B1E7-4214-B971-C505925BBE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14763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Enter guests names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C8C19FB0-2ADB-475F-A14E-5202DBE2CF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051675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Enter guests names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C9C768F4-8FEF-4E25-B6D4-CE5A763811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0169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Enter guests names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D42D56F6-3FEF-4ECC-BFAD-562ED06BB8E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73543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Enter guests names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674A7BE6-D119-4025-96A5-FD074183AB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10455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Enter guests names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30BDC173-256B-4D7F-AD68-325440FBEE9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47367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Enter guests names</a:t>
            </a:r>
          </a:p>
        </p:txBody>
      </p:sp>
    </p:spTree>
    <p:extLst>
      <p:ext uri="{BB962C8B-B14F-4D97-AF65-F5344CB8AC3E}">
        <p14:creationId xmlns:p14="http://schemas.microsoft.com/office/powerpoint/2010/main" val="3533944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orient="horz" pos="76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shtag 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CD1298B0-DF74-4921-ACDD-25CA73EA0D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2813" y="3767931"/>
            <a:ext cx="7318375" cy="647700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Post your pictures using our hashtag! 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6D38433A-D9FF-4C22-931F-DD22EE38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60861"/>
            <a:ext cx="7315200" cy="832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400" b="0" cap="all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/>
              <a:t>SHARE THE LOVE</a:t>
            </a:r>
          </a:p>
        </p:txBody>
      </p:sp>
      <p:sp>
        <p:nvSpPr>
          <p:cNvPr id="45" name="Text Placeholder 22">
            <a:extLst>
              <a:ext uri="{FF2B5EF4-FFF2-40B4-BE49-F238E27FC236}">
                <a16:creationId xmlns:a16="http://schemas.microsoft.com/office/drawing/2014/main" id="{F2A74B68-1636-4772-8535-B636BAC6C6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728997"/>
            <a:ext cx="7315200" cy="83201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0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BRIDE + GROOM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123FB0D-6B56-47D6-8C8D-4094F503A3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1" y="3090069"/>
            <a:ext cx="7886700" cy="677862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6000" cap="all" spc="600" baseline="0" dirty="0">
                <a:solidFill>
                  <a:schemeClr val="tx2"/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sz="6000">
                <a:solidFill>
                  <a:schemeClr val="tx2"/>
                </a:solidFill>
              </a:rPr>
              <a:t>#YOURHASHTAG</a:t>
            </a:r>
          </a:p>
        </p:txBody>
      </p:sp>
    </p:spTree>
    <p:extLst>
      <p:ext uri="{BB962C8B-B14F-4D97-AF65-F5344CB8AC3E}">
        <p14:creationId xmlns:p14="http://schemas.microsoft.com/office/powerpoint/2010/main" val="400725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2.jpe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.jpeg" /><Relationship Id="rId5" Type="http://schemas.openxmlformats.org/officeDocument/2006/relationships/theme" Target="../theme/theme1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man, snow, standing&#10;&#10;Description automatically generated">
            <a:extLst>
              <a:ext uri="{FF2B5EF4-FFF2-40B4-BE49-F238E27FC236}">
                <a16:creationId xmlns:a16="http://schemas.microsoft.com/office/drawing/2014/main" id="{1682BFD2-2DE1-46D1-BCC4-C3479DB007A9}"/>
              </a:ext>
            </a:extLst>
          </p:cNvPr>
          <p:cNvPicPr/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rot="10800000">
            <a:off x="628650" y="5547302"/>
            <a:ext cx="8515350" cy="1310697"/>
          </a:xfrm>
          <a:prstGeom prst="rect">
            <a:avLst/>
          </a:prstGeom>
        </p:spPr>
      </p:pic>
      <p:pic>
        <p:nvPicPr>
          <p:cNvPr id="8" name="Picture 7" descr="A picture containing man, snow, standing&#10;&#10;Description automatically generated">
            <a:extLst>
              <a:ext uri="{FF2B5EF4-FFF2-40B4-BE49-F238E27FC236}">
                <a16:creationId xmlns:a16="http://schemas.microsoft.com/office/drawing/2014/main" id="{E040576E-BF26-4C17-B882-3096DEF8CE1C}"/>
              </a:ext>
            </a:extLst>
          </p:cNvPr>
          <p:cNvPicPr/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0"/>
          <a:stretch/>
        </p:blipFill>
        <p:spPr>
          <a:xfrm>
            <a:off x="-25400" y="0"/>
            <a:ext cx="9169400" cy="275474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B77CE2-F214-3941-9A5D-300C855B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18F81-30CB-394A-A37D-313155523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F2629-9BBE-8846-A0BC-DE7BCDC75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fld id="{3DF77599-03F9-E543-8172-8365D59F4986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5C7B9-80B3-F54C-ABD0-B84CE8954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8FB6E-9C6C-D444-B3F4-4D447291E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fld id="{9607A8EA-B714-0743-99B8-C9D6EFC8C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3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86" r:id="rId3"/>
    <p:sldLayoutId id="2147483689" r:id="rId4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600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ctr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4.wdp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rajeshwarismdu@gmail.com" TargetMode="External" /><Relationship Id="rId2" Type="http://schemas.openxmlformats.org/officeDocument/2006/relationships/hyperlink" Target="mailto:priyaselvan0605@gmail.com" TargetMode="Externa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B9A338-69EA-CA92-73EB-B93FF8D6C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184" b="98980" l="9653" r="93270">
                        <a14:foregroundMark x1="59211" y1="99286" x2="63154" y2="88776"/>
                        <a14:foregroundMark x1="63154" y1="88776" x2="59823" y2="98265"/>
                        <a14:foregroundMark x1="59823" y1="98265" x2="60707" y2="88878"/>
                        <a14:foregroundMark x1="60707" y1="88878" x2="56764" y2="77959"/>
                        <a14:foregroundMark x1="56764" y1="77959" x2="57240" y2="69694"/>
                        <a14:foregroundMark x1="57240" y1="69694" x2="62067" y2="62551"/>
                        <a14:foregroundMark x1="62067" y1="62551" x2="60639" y2="41224"/>
                        <a14:foregroundMark x1="60639" y1="41224" x2="68117" y2="35612"/>
                        <a14:foregroundMark x1="68117" y1="35612" x2="67301" y2="17245"/>
                        <a14:foregroundMark x1="67301" y1="17245" x2="76071" y2="20102"/>
                        <a14:foregroundMark x1="76071" y1="20102" x2="98640" y2="65102"/>
                        <a14:foregroundMark x1="98640" y1="65102" x2="89803" y2="97857"/>
                        <a14:foregroundMark x1="89803" y1="97857" x2="89803" y2="97857"/>
                        <a14:foregroundMark x1="60707" y1="89796" x2="56288" y2="82143"/>
                        <a14:foregroundMark x1="56288" y1="82143" x2="56560" y2="71429"/>
                        <a14:foregroundMark x1="56560" y1="71429" x2="62475" y2="47041"/>
                        <a14:foregroundMark x1="62475" y1="47041" x2="62475" y2="47041"/>
                        <a14:foregroundMark x1="58804" y1="86020" x2="55608" y2="76531"/>
                        <a14:foregroundMark x1="55608" y1="76531" x2="58396" y2="84592"/>
                        <a14:foregroundMark x1="58396" y1="84592" x2="58396" y2="85000"/>
                        <a14:foregroundMark x1="58192" y1="68163" x2="59823" y2="54898"/>
                        <a14:foregroundMark x1="59823" y1="54898" x2="62542" y2="47551"/>
                        <a14:foregroundMark x1="62542" y1="47551" x2="60231" y2="62041"/>
                        <a14:foregroundMark x1="60911" y1="52653" x2="48742" y2="35306"/>
                        <a14:foregroundMark x1="48742" y1="35306" x2="57240" y2="29286"/>
                        <a14:foregroundMark x1="57240" y1="29286" x2="61455" y2="41633"/>
                        <a14:foregroundMark x1="61455" y1="41633" x2="61183" y2="51224"/>
                        <a14:foregroundMark x1="61183" y1="51224" x2="61319" y2="52041"/>
                        <a14:foregroundMark x1="45615" y1="27857" x2="41536" y2="15204"/>
                        <a14:foregroundMark x1="41536" y1="15204" x2="51462" y2="10204"/>
                        <a14:foregroundMark x1="51462" y1="10204" x2="56424" y2="13673"/>
                        <a14:foregroundMark x1="56424" y1="13673" x2="44799" y2="29082"/>
                        <a14:foregroundMark x1="62746" y1="46224" x2="68321" y2="41939"/>
                        <a14:foregroundMark x1="68321" y1="41939" x2="73419" y2="46020"/>
                        <a14:foregroundMark x1="73419" y1="46020" x2="77498" y2="61633"/>
                        <a14:foregroundMark x1="77498" y1="61633" x2="84296" y2="70714"/>
                        <a14:foregroundMark x1="84296" y1="70714" x2="77362" y2="87755"/>
                        <a14:foregroundMark x1="77362" y1="87755" x2="74235" y2="81224"/>
                        <a14:foregroundMark x1="74235" y1="81224" x2="71584" y2="55102"/>
                        <a14:foregroundMark x1="71584" y1="55102" x2="64990" y2="46735"/>
                        <a14:foregroundMark x1="64990" y1="46735" x2="64174" y2="44388"/>
                        <a14:foregroundMark x1="72060" y1="72245" x2="69273" y2="88571"/>
                        <a14:foregroundMark x1="69273" y1="88571" x2="70768" y2="96224"/>
                        <a14:foregroundMark x1="70768" y1="96224" x2="85180" y2="97143"/>
                        <a14:foregroundMark x1="85180" y1="97143" x2="93610" y2="79184"/>
                        <a14:foregroundMark x1="93610" y1="79184" x2="92454" y2="68061"/>
                        <a14:foregroundMark x1="92454" y1="68061" x2="95717" y2="54592"/>
                        <a14:foregroundMark x1="95717" y1="54592" x2="92250" y2="41224"/>
                        <a14:foregroundMark x1="92250" y1="41224" x2="76479" y2="32245"/>
                        <a14:foregroundMark x1="76479" y1="32245" x2="71924" y2="72755"/>
                        <a14:foregroundMark x1="89191" y1="85408" x2="93610" y2="81122"/>
                        <a14:foregroundMark x1="93610" y1="81122" x2="93950" y2="44694"/>
                        <a14:foregroundMark x1="93950" y1="44694" x2="88919" y2="41020"/>
                        <a14:foregroundMark x1="88919" y1="41020" x2="93270" y2="64286"/>
                        <a14:foregroundMark x1="93270" y1="64286" x2="89803" y2="83163"/>
                        <a14:foregroundMark x1="89803" y1="83163" x2="88851" y2="85918"/>
                        <a14:foregroundMark x1="77362" y1="26837" x2="77702" y2="17755"/>
                        <a14:foregroundMark x1="77702" y1="17755" x2="72332" y2="10816"/>
                        <a14:foregroundMark x1="72332" y1="10816" x2="66213" y2="9592"/>
                        <a14:foregroundMark x1="66213" y1="9592" x2="63766" y2="18367"/>
                        <a14:foregroundMark x1="63766" y1="18367" x2="65602" y2="20510"/>
                        <a14:foregroundMark x1="77634" y1="15816" x2="73148" y2="10306"/>
                        <a14:foregroundMark x1="73148" y1="10306" x2="67573" y2="9184"/>
                        <a14:foregroundMark x1="67573" y1="9184" x2="71856" y2="10510"/>
                        <a14:foregroundMark x1="37661" y1="96020" x2="30659" y2="98776"/>
                        <a14:foregroundMark x1="30659" y1="98776" x2="23114" y2="93061"/>
                        <a14:foregroundMark x1="23114" y1="93061" x2="23249" y2="57551"/>
                        <a14:foregroundMark x1="23249" y1="57551" x2="26445" y2="47551"/>
                        <a14:foregroundMark x1="26445" y1="47551" x2="34874" y2="60612"/>
                        <a14:foregroundMark x1="34874" y1="60612" x2="38069" y2="87449"/>
                        <a14:foregroundMark x1="38069" y1="87449" x2="37933" y2="98980"/>
                        <a14:foregroundMark x1="36642" y1="94490" x2="30320" y2="94694"/>
                        <a14:foregroundMark x1="30320" y1="94694" x2="21822" y2="84490"/>
                        <a14:foregroundMark x1="21822" y1="84490" x2="24949" y2="60306"/>
                        <a14:foregroundMark x1="24949" y1="60306" x2="32495" y2="57653"/>
                        <a14:foregroundMark x1="32495" y1="57653" x2="39701" y2="79898"/>
                        <a14:foregroundMark x1="39701" y1="79898" x2="39837" y2="91837"/>
                        <a14:foregroundMark x1="39837" y1="91837" x2="36438" y2="98367"/>
                        <a14:foregroundMark x1="36438" y1="98367" x2="33583" y2="98163"/>
                        <a14:foregroundMark x1="36438" y1="90714" x2="28620" y2="89082"/>
                        <a14:foregroundMark x1="28620" y1="89082" x2="23793" y2="70204"/>
                        <a14:foregroundMark x1="23793" y1="70204" x2="29572" y2="57041"/>
                        <a14:foregroundMark x1="29572" y1="57041" x2="35486" y2="64796"/>
                        <a14:foregroundMark x1="35486" y1="64796" x2="34806" y2="82143"/>
                        <a14:foregroundMark x1="34806" y1="82143" x2="36166" y2="92143"/>
                        <a14:foregroundMark x1="36166" y1="92143" x2="35010" y2="93571"/>
                        <a14:foregroundMark x1="32019" y1="89490" x2="27396" y2="76735"/>
                        <a14:foregroundMark x1="27396" y1="76735" x2="28144" y2="64898"/>
                        <a14:foregroundMark x1="28144" y1="64898" x2="33447" y2="67143"/>
                        <a14:foregroundMark x1="33447" y1="67143" x2="36166" y2="89796"/>
                        <a14:foregroundMark x1="36166" y1="89796" x2="31407" y2="89592"/>
                        <a14:backgroundMark x1="59342" y1="94985" x2="59823" y2="91327"/>
                        <a14:backgroundMark x1="58804" y1="99082" x2="58991" y2="97660"/>
                        <a14:backgroundMark x1="59823" y1="91327" x2="59090" y2="88048"/>
                        <a14:backgroundMark x1="58063" y1="67318" x2="58122" y2="67025"/>
                        <a14:backgroundMark x1="56589" y1="74658" x2="56637" y2="74417"/>
                        <a14:backgroundMark x1="63344" y1="14263" x2="63222" y2="13367"/>
                        <a14:backgroundMark x1="66251" y1="35544" x2="64371" y2="21781"/>
                        <a14:backgroundMark x1="67058" y1="41449" x2="66615" y2="38207"/>
                        <a14:backgroundMark x1="63222" y1="13367" x2="63658" y2="13137"/>
                        <a14:backgroundMark x1="77331" y1="14789" x2="78518" y2="15816"/>
                        <a14:backgroundMark x1="79354" y1="30246" x2="79479" y2="32404"/>
                        <a14:backgroundMark x1="78518" y1="15816" x2="78883" y2="22112"/>
                        <a14:backgroundMark x1="94308" y1="51378" x2="94562" y2="52245"/>
                        <a14:backgroundMark x1="92469" y1="45090" x2="93493" y2="48591"/>
                        <a14:backgroundMark x1="91867" y1="84186" x2="91842" y2="84490"/>
                        <a14:backgroundMark x1="92507" y1="76606" x2="92120" y2="81194"/>
                        <a14:backgroundMark x1="93961" y1="59370" x2="93927" y2="59772"/>
                        <a14:backgroundMark x1="94562" y1="52245" x2="94481" y2="53210"/>
                        <a14:backgroundMark x1="91842" y1="84490" x2="88647" y2="95816"/>
                        <a14:backgroundMark x1="88647" y1="97857" x2="88647" y2="99898"/>
                        <a14:backgroundMark x1="88647" y1="97189" x2="88647" y2="97857"/>
                        <a14:backgroundMark x1="88647" y1="95816" x2="88647" y2="963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923731" y="2211525"/>
            <a:ext cx="6974454" cy="464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AB8A46-8358-40FD-84F2-551B3C3C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9" y="744071"/>
            <a:ext cx="8384721" cy="1325563"/>
          </a:xfrm>
        </p:spPr>
        <p:txBody>
          <a:bodyPr/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Sign2speak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AC50F-47F0-4834-856D-444AD3D591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95173" y="3946849"/>
            <a:ext cx="3336860" cy="2137610"/>
          </a:xfrm>
        </p:spPr>
        <p:txBody>
          <a:bodyPr/>
          <a:lstStyle/>
          <a:p>
            <a:pPr algn="l"/>
            <a:r>
              <a:rPr lang="en-US" sz="1600">
                <a:solidFill>
                  <a:schemeClr val="bg2">
                    <a:lumMod val="10000"/>
                  </a:schemeClr>
                </a:solidFill>
              </a:rPr>
              <a:t>Team name: </a:t>
            </a:r>
            <a:r>
              <a:rPr lang="en-US" sz="1600"/>
              <a:t>tech titans</a:t>
            </a:r>
            <a:br>
              <a:rPr lang="en-US" sz="1600"/>
            </a:br>
            <a:r>
              <a:rPr lang="en-US" sz="1600">
                <a:solidFill>
                  <a:schemeClr val="bg2">
                    <a:lumMod val="10000"/>
                  </a:schemeClr>
                </a:solidFill>
              </a:rPr>
              <a:t>college:</a:t>
            </a:r>
            <a:br>
              <a:rPr lang="en-US" sz="1600"/>
            </a:br>
            <a:r>
              <a:rPr lang="en-US" sz="1600" err="1"/>
              <a:t>velammal</a:t>
            </a:r>
            <a:r>
              <a:rPr lang="en-US" sz="1600"/>
              <a:t> college of engineering and technology</a:t>
            </a:r>
            <a:br>
              <a:rPr lang="en-US" sz="1600"/>
            </a:br>
            <a:r>
              <a:rPr lang="en-US" sz="1600">
                <a:solidFill>
                  <a:schemeClr val="bg2">
                    <a:lumMod val="10000"/>
                  </a:schemeClr>
                </a:solidFill>
              </a:rPr>
              <a:t>event name: </a:t>
            </a:r>
            <a:r>
              <a:rPr lang="en-US" sz="1600"/>
              <a:t>paper palooza</a:t>
            </a:r>
          </a:p>
        </p:txBody>
      </p:sp>
    </p:spTree>
    <p:extLst>
      <p:ext uri="{BB962C8B-B14F-4D97-AF65-F5344CB8AC3E}">
        <p14:creationId xmlns:p14="http://schemas.microsoft.com/office/powerpoint/2010/main" val="8238925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A6823-F3D1-427C-B43B-20679D68F6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8999" y="204926"/>
            <a:ext cx="7886700" cy="831672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7A3449-DE58-443C-81E1-3C7684364D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1409" y="2084832"/>
            <a:ext cx="8384722" cy="4268942"/>
          </a:xfrm>
        </p:spPr>
        <p:txBody>
          <a:bodyPr>
            <a:normAutofit/>
          </a:bodyPr>
          <a:lstStyle/>
          <a:p>
            <a:pPr marL="285750" lvl="0" indent="-28575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Sign2Speak is a website for mute and deaf people.</a:t>
            </a:r>
          </a:p>
          <a:p>
            <a:pPr marL="285750" lvl="0" indent="-28575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changes signs into speech using a webcam.</a:t>
            </a:r>
          </a:p>
          <a:p>
            <a:pPr marL="285750" lvl="0" indent="-28575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users communicate easily and build confidence.</a:t>
            </a:r>
          </a:p>
          <a:p>
            <a:pPr marL="285750" lvl="0" indent="-28575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web and AI tools for real-time communication.</a:t>
            </a:r>
          </a:p>
          <a:p>
            <a:pPr marL="285750" lvl="0" indent="-28575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upload slides and choose voice and language</a:t>
            </a:r>
            <a:r>
              <a:rPr lang="en-US" altLang="en-US" b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35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552F805-1909-F309-F360-292EED9DF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736" b="93208" l="10000" r="90000">
                        <a14:foregroundMark x1="31733" y1="9717" x2="36267" y2="4717"/>
                        <a14:foregroundMark x1="36267" y1="4717" x2="36333" y2="4434"/>
                        <a14:foregroundMark x1="36333" y1="4434" x2="36333" y2="4434"/>
                        <a14:foregroundMark x1="65800" y1="2736" x2="69933" y2="6698"/>
                        <a14:foregroundMark x1="69933" y1="6698" x2="74933" y2="21321"/>
                        <a14:foregroundMark x1="74933" y1="21321" x2="76067" y2="32358"/>
                        <a14:foregroundMark x1="76067" y1="32358" x2="73667" y2="41887"/>
                        <a14:foregroundMark x1="73667" y1="41887" x2="70600" y2="48019"/>
                        <a14:foregroundMark x1="70600" y1="48019" x2="67000" y2="50849"/>
                        <a14:foregroundMark x1="23613" y1="26577" x2="23419" y2="29023"/>
                        <a14:foregroundMark x1="32837" y1="55480" x2="33000" y2="55943"/>
                        <a14:foregroundMark x1="30611" y1="57163" x2="26667" y2="60660"/>
                        <a14:foregroundMark x1="31667" y1="56226" x2="30614" y2="57160"/>
                        <a14:foregroundMark x1="26667" y1="60660" x2="23000" y2="74151"/>
                        <a14:foregroundMark x1="23000" y1="74151" x2="26473" y2="77837"/>
                        <a14:foregroundMark x1="24988" y1="83538" x2="20200" y2="90849"/>
                        <a14:foregroundMark x1="26281" y1="81564" x2="25561" y2="82663"/>
                        <a14:foregroundMark x1="31067" y1="64528" x2="34667" y2="81321"/>
                        <a14:foregroundMark x1="34667" y1="81321" x2="31067" y2="93208"/>
                        <a14:foregroundMark x1="29733" y1="58491" x2="37000" y2="57264"/>
                        <a14:foregroundMark x1="37000" y1="57264" x2="40800" y2="68491"/>
                        <a14:foregroundMark x1="40800" y1="68491" x2="40600" y2="76132"/>
                        <a14:foregroundMark x1="40600" y1="76132" x2="34933" y2="84057"/>
                        <a14:foregroundMark x1="34933" y1="84057" x2="27333" y2="85660"/>
                        <a14:foregroundMark x1="25878" y1="77514" x2="24400" y2="69245"/>
                        <a14:foregroundMark x1="27333" y1="85660" x2="27065" y2="84158"/>
                        <a14:foregroundMark x1="24400" y1="69245" x2="28800" y2="57736"/>
                        <a14:foregroundMark x1="28800" y1="57736" x2="32200" y2="57642"/>
                        <a14:foregroundMark x1="32067" y1="90283" x2="39000" y2="91509"/>
                        <a14:foregroundMark x1="39000" y1="91509" x2="45067" y2="91321"/>
                        <a14:foregroundMark x1="45067" y1="91321" x2="54800" y2="91698"/>
                        <a14:foregroundMark x1="54800" y1="91698" x2="66667" y2="90189"/>
                        <a14:foregroundMark x1="66667" y1="90189" x2="71933" y2="90189"/>
                        <a14:foregroundMark x1="71933" y1="90189" x2="68200" y2="84057"/>
                        <a14:foregroundMark x1="68200" y1="84057" x2="68000" y2="77170"/>
                        <a14:foregroundMark x1="68000" y1="77170" x2="71067" y2="69623"/>
                        <a14:foregroundMark x1="71067" y1="69623" x2="70200" y2="62358"/>
                        <a14:foregroundMark x1="70200" y1="62358" x2="66000" y2="56887"/>
                        <a14:foregroundMark x1="66000" y1="56887" x2="59333" y2="57736"/>
                        <a14:foregroundMark x1="59333" y1="57736" x2="47933" y2="80377"/>
                        <a14:foregroundMark x1="47933" y1="80377" x2="33800" y2="83585"/>
                        <a14:foregroundMark x1="33800" y1="83585" x2="31667" y2="89906"/>
                        <a14:foregroundMark x1="31667" y1="89906" x2="31667" y2="89906"/>
                        <a14:foregroundMark x1="49600" y1="88208" x2="58667" y2="66415"/>
                        <a14:foregroundMark x1="58667" y1="66415" x2="58600" y2="58774"/>
                        <a14:foregroundMark x1="58600" y1="58774" x2="65867" y2="62736"/>
                        <a14:foregroundMark x1="65867" y1="62736" x2="66867" y2="72830"/>
                        <a14:foregroundMark x1="66867" y1="72830" x2="65333" y2="82830"/>
                        <a14:foregroundMark x1="65333" y1="82830" x2="54933" y2="88679"/>
                        <a14:foregroundMark x1="54933" y1="88679" x2="50000" y2="87453"/>
                        <a14:foregroundMark x1="57067" y1="84623" x2="54000" y2="78774"/>
                        <a14:foregroundMark x1="54000" y1="78774" x2="55667" y2="68113"/>
                        <a14:foregroundMark x1="55667" y1="68113" x2="60333" y2="60943"/>
                        <a14:foregroundMark x1="60333" y1="60943" x2="65267" y2="62925"/>
                        <a14:foregroundMark x1="65267" y1="62925" x2="68000" y2="73774"/>
                        <a14:foregroundMark x1="68000" y1="73774" x2="67200" y2="81226"/>
                        <a14:foregroundMark x1="67200" y1="81226" x2="60667" y2="85660"/>
                        <a14:foregroundMark x1="60667" y1="85660" x2="57267" y2="84717"/>
                        <a14:foregroundMark x1="45133" y1="91321" x2="34067" y2="89057"/>
                        <a14:foregroundMark x1="34067" y1="89057" x2="42733" y2="84717"/>
                        <a14:foregroundMark x1="42733" y1="84717" x2="47467" y2="88396"/>
                        <a14:foregroundMark x1="47467" y1="88396" x2="43733" y2="91038"/>
                        <a14:backgroundMark x1="31067" y1="55377" x2="33200" y2="47736"/>
                        <a14:backgroundMark x1="33200" y1="47736" x2="33467" y2="51604"/>
                        <a14:backgroundMark x1="33400" y1="52736" x2="30933" y2="54811"/>
                        <a14:backgroundMark x1="24667" y1="19811" x2="25467" y2="30755"/>
                        <a14:backgroundMark x1="25467" y1="30755" x2="28267" y2="39151"/>
                        <a14:backgroundMark x1="28267" y1="39151" x2="34000" y2="46981"/>
                        <a14:backgroundMark x1="23667" y1="28962" x2="25867" y2="46698"/>
                        <a14:backgroundMark x1="25867" y1="46698" x2="31667" y2="47736"/>
                        <a14:backgroundMark x1="31667" y1="47736" x2="23800" y2="35000"/>
                        <a14:backgroundMark x1="23800" y1="35000" x2="23133" y2="28962"/>
                        <a14:backgroundMark x1="28733" y1="46321" x2="31867" y2="51981"/>
                        <a14:backgroundMark x1="31867" y1="51981" x2="28533" y2="47170"/>
                        <a14:backgroundMark x1="23133" y1="31132" x2="23667" y2="29528"/>
                        <a14:backgroundMark x1="23533" y1="24906" x2="23933" y2="26415"/>
                        <a14:backgroundMark x1="24467" y1="24245" x2="23733" y2="24057"/>
                        <a14:backgroundMark x1="24067" y1="25849" x2="23533" y2="26509"/>
                        <a14:backgroundMark x1="25400" y1="78679" x2="24267" y2="79717"/>
                        <a14:backgroundMark x1="24267" y1="79717" x2="24267" y2="79717"/>
                        <a14:backgroundMark x1="23667" y1="84717" x2="28867" y2="81698"/>
                        <a14:backgroundMark x1="28867" y1="81698" x2="25067" y2="79434"/>
                        <a14:backgroundMark x1="23733" y1="84434" x2="28000" y2="80094"/>
                        <a14:backgroundMark x1="28000" y1="80094" x2="24867" y2="78396"/>
                        <a14:backgroundMark x1="22533" y1="84623" x2="26000" y2="81321"/>
                        <a14:backgroundMark x1="22733" y1="85000" x2="22867" y2="85189"/>
                        <a14:backgroundMark x1="24600" y1="29811" x2="23933" y2="278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400440" y="0"/>
            <a:ext cx="8820000" cy="765566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50A5727-6950-7524-0104-1EEB3D1FCCF5}"/>
              </a:ext>
            </a:extLst>
          </p:cNvPr>
          <p:cNvSpPr txBox="1">
            <a:spLocks/>
          </p:cNvSpPr>
          <p:nvPr/>
        </p:nvSpPr>
        <p:spPr>
          <a:xfrm>
            <a:off x="1369878" y="102206"/>
            <a:ext cx="668102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 cap="all" spc="0" baseline="0">
                <a:solidFill>
                  <a:schemeClr val="tx1"/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/>
              <a:t>  </a:t>
            </a:r>
            <a:r>
              <a:rPr lang="en-IN" sz="6000">
                <a:solidFill>
                  <a:schemeClr val="tx2">
                    <a:lumMod val="20000"/>
                    <a:lumOff val="80000"/>
                  </a:schemeClr>
                </a:solidFill>
              </a:rPr>
              <a:t>THE </a:t>
            </a:r>
            <a:r>
              <a:rPr lang="en-IN" sz="6000">
                <a:solidFill>
                  <a:schemeClr val="accent1">
                    <a:lumMod val="75000"/>
                  </a:schemeClr>
                </a:solidFill>
              </a:rPr>
              <a:t>PROBLEM</a:t>
            </a:r>
            <a:endParaRPr lang="en-I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D95669-7DBA-4C00-A123-DE7B874F1B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16552" y="1172054"/>
            <a:ext cx="4480560" cy="5685946"/>
          </a:xfrm>
        </p:spPr>
        <p:txBody>
          <a:bodyPr/>
          <a:lstStyle/>
          <a:p>
            <a:pPr marL="457200" indent="-4572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i="1">
                <a:solidFill>
                  <a:schemeClr val="accent1">
                    <a:lumMod val="75000"/>
                  </a:schemeClr>
                </a:solidFill>
                <a:latin typeface="Franklin Gothic Demi" panose="020B0703020102020204" pitchFamily="34" charset="0"/>
              </a:rPr>
              <a:t>Many people are unfamiliar with sign language.</a:t>
            </a:r>
            <a:br>
              <a:rPr lang="en-US" altLang="en-US" sz="2400" i="1">
                <a:solidFill>
                  <a:schemeClr val="accent1">
                    <a:lumMod val="75000"/>
                  </a:schemeClr>
                </a:solidFill>
                <a:latin typeface="Franklin Gothic Demi" panose="020B0703020102020204" pitchFamily="34" charset="0"/>
              </a:rPr>
            </a:br>
            <a:endParaRPr lang="en-US" altLang="en-US" sz="2400" i="1">
              <a:solidFill>
                <a:schemeClr val="accent1">
                  <a:lumMod val="75000"/>
                </a:schemeClr>
              </a:solidFill>
              <a:latin typeface="Franklin Gothic Demi" panose="020B0703020102020204" pitchFamily="34" charset="0"/>
            </a:endParaRPr>
          </a:p>
          <a:p>
            <a:pPr marL="285750" lvl="0" indent="-28575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400">
              <a:solidFill>
                <a:schemeClr val="accent1">
                  <a:lumMod val="75000"/>
                </a:schemeClr>
              </a:solidFill>
              <a:latin typeface="Franklin Gothic Demi" panose="020B0703020102020204" pitchFamily="34" charset="0"/>
            </a:endParaRPr>
          </a:p>
          <a:p>
            <a:pPr marL="457200" lvl="0" indent="-45720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i="1">
                <a:solidFill>
                  <a:schemeClr val="accent1">
                    <a:lumMod val="75000"/>
                  </a:schemeClr>
                </a:solidFill>
                <a:latin typeface="Franklin Gothic Demi" panose="020B0703020102020204" pitchFamily="34" charset="0"/>
              </a:rPr>
              <a:t>Hearing-impaired individuals face communication challenges in public, education, and healthcare.</a:t>
            </a:r>
            <a:br>
              <a:rPr lang="en-US" altLang="en-US" sz="2400" i="1">
                <a:solidFill>
                  <a:schemeClr val="accent1">
                    <a:lumMod val="75000"/>
                  </a:schemeClr>
                </a:solidFill>
                <a:latin typeface="Franklin Gothic Demi" panose="020B0703020102020204" pitchFamily="34" charset="0"/>
              </a:rPr>
            </a:br>
            <a:endParaRPr lang="en-US" altLang="en-US" sz="2400" i="1">
              <a:solidFill>
                <a:schemeClr val="accent1">
                  <a:lumMod val="75000"/>
                </a:schemeClr>
              </a:solidFill>
              <a:latin typeface="Franklin Gothic Demi" panose="020B0703020102020204" pitchFamily="34" charset="0"/>
            </a:endParaRPr>
          </a:p>
          <a:p>
            <a:pPr marL="457200" lvl="0" indent="-45720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i="1">
                <a:solidFill>
                  <a:schemeClr val="accent1">
                    <a:lumMod val="75000"/>
                  </a:schemeClr>
                </a:solidFill>
                <a:latin typeface="Franklin Gothic Demi" panose="020B0703020102020204" pitchFamily="34" charset="0"/>
              </a:rPr>
              <a:t>Existing tools are costly, hardware-dependent, or limited in scope.</a:t>
            </a:r>
          </a:p>
          <a:p>
            <a:pPr lvl="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i="1">
              <a:solidFill>
                <a:schemeClr val="accent1">
                  <a:lumMod val="75000"/>
                </a:schemeClr>
              </a:solidFill>
              <a:latin typeface="Franklin Gothic Demi" panose="020B0703020102020204" pitchFamily="34" charset="0"/>
            </a:endParaRPr>
          </a:p>
          <a:p>
            <a:pPr marL="457200" indent="-45720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>
                <a:solidFill>
                  <a:schemeClr val="accent1">
                    <a:lumMod val="75000"/>
                  </a:schemeClr>
                </a:solidFill>
                <a:latin typeface="Franklin Gothic Demi" panose="020B0703020102020204" pitchFamily="34" charset="0"/>
              </a:rPr>
              <a:t>Mute and deaf people struggle with presentations.</a:t>
            </a:r>
          </a:p>
          <a:p>
            <a:pPr marL="457200" lvl="0" indent="-45720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i="1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algn="l"/>
            <a:r>
              <a:rPr lang="en-US" sz="360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865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F5085B-3256-2320-D1F2-D23884EEC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093231"/>
            <a:ext cx="8522207" cy="450202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96C7B-C62F-11C5-3B9D-CB1020B0E8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4675" y="176934"/>
            <a:ext cx="8032397" cy="1624434"/>
          </a:xfrm>
        </p:spPr>
        <p:txBody>
          <a:bodyPr/>
          <a:lstStyle/>
          <a:p>
            <a:r>
              <a:rPr lang="en-IN" sz="4400">
                <a:solidFill>
                  <a:srgbClr val="FF0000"/>
                </a:solidFill>
              </a:rPr>
              <a:t>PRESENTATION</a:t>
            </a:r>
            <a:r>
              <a:rPr lang="en-IN" sz="4400"/>
              <a:t> </a:t>
            </a:r>
            <a:r>
              <a:rPr lang="en-IN" sz="4400">
                <a:solidFill>
                  <a:srgbClr val="FFC000"/>
                </a:solidFill>
              </a:rPr>
              <a:t>ACCESIBILITY</a:t>
            </a:r>
            <a:r>
              <a:rPr lang="en-IN" sz="4400"/>
              <a:t> </a:t>
            </a:r>
            <a:r>
              <a:rPr lang="en-IN" sz="4400" u="sng"/>
              <a:t>COMPARISON</a:t>
            </a:r>
            <a:endParaRPr lang="en-IN" sz="4400"/>
          </a:p>
        </p:txBody>
      </p:sp>
    </p:spTree>
    <p:extLst>
      <p:ext uri="{BB962C8B-B14F-4D97-AF65-F5344CB8AC3E}">
        <p14:creationId xmlns:p14="http://schemas.microsoft.com/office/powerpoint/2010/main" val="2198697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FC5A9-A66C-50DB-0284-FEB37EA3A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005" y="372877"/>
            <a:ext cx="7886700" cy="831672"/>
          </a:xfrm>
        </p:spPr>
        <p:txBody>
          <a:bodyPr/>
          <a:lstStyle/>
          <a:p>
            <a:r>
              <a:rPr lang="en-IN"/>
              <a:t>Vision </a:t>
            </a:r>
            <a:r>
              <a:rPr lang="en-IN">
                <a:solidFill>
                  <a:schemeClr val="accent1">
                    <a:lumMod val="75000"/>
                  </a:schemeClr>
                </a:solidFill>
              </a:rPr>
              <a:t>&amp;</a:t>
            </a:r>
            <a:r>
              <a:rPr lang="en-IN"/>
              <a:t> mission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64D74-6E58-B620-4C9C-8A03C3468F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1367" y="2209146"/>
            <a:ext cx="3803392" cy="2558797"/>
          </a:xfrm>
        </p:spPr>
        <p:txBody>
          <a:bodyPr/>
          <a:lstStyle/>
          <a:p>
            <a:pPr lvl="0" indent="-45720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mute and deaf users a </a:t>
            </a:r>
            <a:r>
              <a:rPr lang="en-US" altLang="en-US" sz="24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voice</a:t>
            </a:r>
            <a:r>
              <a:rPr lang="en-US" altLang="en-US" sz="2400" b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b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 communication barriers</a:t>
            </a:r>
            <a:r>
              <a:rPr lang="en-US" altLang="en-US" sz="2400" b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make talks easy for everyone.</a:t>
            </a:r>
          </a:p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6DEA6D-CA1F-9286-77C6-A622B4047678}"/>
              </a:ext>
            </a:extLst>
          </p:cNvPr>
          <p:cNvSpPr txBox="1"/>
          <p:nvPr/>
        </p:nvSpPr>
        <p:spPr>
          <a:xfrm>
            <a:off x="4898571" y="1881784"/>
            <a:ext cx="4077478" cy="41652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</a:t>
            </a:r>
            <a:r>
              <a:rPr lang="en-US" altLang="en-US" sz="2400" b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</a:t>
            </a:r>
            <a:r>
              <a:rPr lang="en-US" altLang="en-US" sz="24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changes sign language to speech in real time.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communication </a:t>
            </a:r>
            <a:r>
              <a:rPr lang="en-US" altLang="en-US" sz="2400" b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quick, and easy to use</a:t>
            </a:r>
            <a:r>
              <a:rPr lang="en-US" altLang="en-US" sz="24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altLang="en-US" sz="2400" b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</a:t>
            </a:r>
            <a:r>
              <a:rPr lang="en-US" altLang="en-US" sz="24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presentation</a:t>
            </a:r>
            <a:r>
              <a:rPr lang="en-US" altLang="en-US" sz="24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features in one tool.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 users </a:t>
            </a:r>
            <a:r>
              <a:rPr lang="en-US" altLang="en-US" sz="2400" b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 ideas confidently</a:t>
            </a:r>
            <a:r>
              <a:rPr lang="en-US" altLang="en-US" sz="24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schools, offices, and public places.</a:t>
            </a:r>
          </a:p>
        </p:txBody>
      </p:sp>
    </p:spTree>
    <p:extLst>
      <p:ext uri="{BB962C8B-B14F-4D97-AF65-F5344CB8AC3E}">
        <p14:creationId xmlns:p14="http://schemas.microsoft.com/office/powerpoint/2010/main" val="25260062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F0A00-0676-4240-B4C2-31F1482452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0664" y="312988"/>
            <a:ext cx="7314676" cy="832017"/>
          </a:xfrm>
        </p:spPr>
        <p:txBody>
          <a:bodyPr/>
          <a:lstStyle/>
          <a:p>
            <a:r>
              <a:rPr lang="en-US"/>
              <a:t>Concept over 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E1C88-08C6-47FF-A33C-5DE020E68D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3921" y="1751961"/>
            <a:ext cx="1543050" cy="365125"/>
          </a:xfrm>
        </p:spPr>
        <p:txBody>
          <a:bodyPr/>
          <a:lstStyle/>
          <a:p>
            <a:r>
              <a:rPr lang="en-US"/>
              <a:t>1.</a:t>
            </a:r>
          </a:p>
        </p:txBody>
      </p:sp>
      <p:sp>
        <p:nvSpPr>
          <p:cNvPr id="110" name="Text Placeholder 109">
            <a:extLst>
              <a:ext uri="{FF2B5EF4-FFF2-40B4-BE49-F238E27FC236}">
                <a16:creationId xmlns:a16="http://schemas.microsoft.com/office/drawing/2014/main" id="{A1D86268-C3B2-4287-B86F-11C2DD705D6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22128" y="2249318"/>
            <a:ext cx="1463675" cy="1371600"/>
          </a:xfrm>
        </p:spPr>
        <p:txBody>
          <a:bodyPr/>
          <a:lstStyle/>
          <a:p>
            <a:r>
              <a:rPr lang="en-US" altLang="en-US" sz="1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Sign2Speak is a web-based tool that helps mute and deaf users communicate easily.</a:t>
            </a:r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19C99F-DF18-4D8C-A9A6-70A63A3D86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1498" y="4004729"/>
            <a:ext cx="1543050" cy="365125"/>
          </a:xfrm>
        </p:spPr>
        <p:txBody>
          <a:bodyPr/>
          <a:lstStyle/>
          <a:p>
            <a:r>
              <a:rPr lang="en-US"/>
              <a:t>5.</a:t>
            </a:r>
          </a:p>
        </p:txBody>
      </p:sp>
      <p:sp>
        <p:nvSpPr>
          <p:cNvPr id="114" name="Text Placeholder 113">
            <a:extLst>
              <a:ext uri="{FF2B5EF4-FFF2-40B4-BE49-F238E27FC236}">
                <a16:creationId xmlns:a16="http://schemas.microsoft.com/office/drawing/2014/main" id="{0E4E0A45-4EA8-48A9-B680-CC239B138AE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67338" y="4481501"/>
            <a:ext cx="5647776" cy="2181839"/>
          </a:xfrm>
        </p:spPr>
        <p:txBody>
          <a:bodyPr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simple 3-step process: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Gesture – User shows signs using the webcam.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– The system converts the gestures into text.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 – The text is then spoken out loud through voice output.</a:t>
            </a:r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A827A5-BE6A-4A00-B248-8DD8838138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73543" y="1753350"/>
            <a:ext cx="1543050" cy="365125"/>
          </a:xfrm>
        </p:spPr>
        <p:txBody>
          <a:bodyPr/>
          <a:lstStyle/>
          <a:p>
            <a:r>
              <a:rPr lang="en-US"/>
              <a:t>2.</a:t>
            </a:r>
          </a:p>
          <a:p>
            <a:endParaRPr lang="en-US"/>
          </a:p>
        </p:txBody>
      </p:sp>
      <p:sp>
        <p:nvSpPr>
          <p:cNvPr id="111" name="Text Placeholder 110">
            <a:extLst>
              <a:ext uri="{FF2B5EF4-FFF2-40B4-BE49-F238E27FC236}">
                <a16:creationId xmlns:a16="http://schemas.microsoft.com/office/drawing/2014/main" id="{FF1E5A65-4C8F-4EB2-9054-1EAD395E38D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668392" y="2304223"/>
            <a:ext cx="1463675" cy="1463040"/>
          </a:xfrm>
        </p:spPr>
        <p:txBody>
          <a:bodyPr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works on any device using a web browser, so no extra software is needed.</a:t>
            </a:r>
          </a:p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FC6FA0-5B0D-4F08-BFD1-E0990C8DC7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32467" y="1724529"/>
            <a:ext cx="1543050" cy="365125"/>
          </a:xfrm>
        </p:spPr>
        <p:txBody>
          <a:bodyPr/>
          <a:lstStyle/>
          <a:p>
            <a:r>
              <a:rPr lang="en-US"/>
              <a:t>3.</a:t>
            </a:r>
          </a:p>
        </p:txBody>
      </p:sp>
      <p:sp>
        <p:nvSpPr>
          <p:cNvPr id="112" name="Text Placeholder 111">
            <a:extLst>
              <a:ext uri="{FF2B5EF4-FFF2-40B4-BE49-F238E27FC236}">
                <a16:creationId xmlns:a16="http://schemas.microsoft.com/office/drawing/2014/main" id="{FDFEFB6F-956C-4CCC-AF9F-1908160258A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850755" y="2240215"/>
            <a:ext cx="1463675" cy="1371600"/>
          </a:xfrm>
        </p:spPr>
        <p:txBody>
          <a:bodyPr/>
          <a:lstStyle/>
          <a:p>
            <a:r>
              <a:rPr lang="en-US" altLang="en-US" sz="1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allows users to speak through sign language in real time.</a:t>
            </a:r>
          </a:p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2C53970-48B0-4F79-BECB-F43D73533CA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967992" y="1685972"/>
            <a:ext cx="1543050" cy="365125"/>
          </a:xfrm>
        </p:spPr>
        <p:txBody>
          <a:bodyPr/>
          <a:lstStyle/>
          <a:p>
            <a:r>
              <a:rPr lang="en-US"/>
              <a:t>4.</a:t>
            </a:r>
          </a:p>
        </p:txBody>
      </p:sp>
      <p:sp>
        <p:nvSpPr>
          <p:cNvPr id="117" name="Text Placeholder 116">
            <a:extLst>
              <a:ext uri="{FF2B5EF4-FFF2-40B4-BE49-F238E27FC236}">
                <a16:creationId xmlns:a16="http://schemas.microsoft.com/office/drawing/2014/main" id="{64C29E37-A329-46BF-BE03-4A2AF49A363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10045" y="2249318"/>
            <a:ext cx="1463675" cy="1371600"/>
          </a:xfrm>
        </p:spPr>
        <p:txBody>
          <a:bodyPr/>
          <a:lstStyle/>
          <a:p>
            <a:r>
              <a:rPr lang="en-US" altLang="en-US" sz="1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simple, fast, and accessible for presentations and communication</a:t>
            </a:r>
            <a:r>
              <a:rPr lang="en-US" altLang="en-US" sz="14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15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99C3D-0285-9131-6F2F-64F09391A2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5344" y="400870"/>
            <a:ext cx="7886700" cy="831672"/>
          </a:xfrm>
        </p:spPr>
        <p:txBody>
          <a:bodyPr/>
          <a:lstStyle/>
          <a:p>
            <a:r>
              <a:rPr lang="en-IN" sz="6000"/>
              <a:t>Work flow</a:t>
            </a:r>
            <a:r>
              <a:rPr lang="en-IN" sz="6000">
                <a:solidFill>
                  <a:schemeClr val="accent1">
                    <a:lumMod val="75000"/>
                  </a:schemeClr>
                </a:solidFill>
              </a:rPr>
              <a:t>&amp;</a:t>
            </a:r>
            <a:r>
              <a:rPr lang="en-IN" sz="6000"/>
              <a:t> interface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6C398-D63B-42BD-858C-503E6B3AC7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65" t="15281" r="14070" b="22466"/>
          <a:stretch/>
        </p:blipFill>
        <p:spPr>
          <a:xfrm>
            <a:off x="-65314" y="2034073"/>
            <a:ext cx="9209313" cy="426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43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F8DEC-6322-B127-1839-5FDCA78F09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6014" y="515541"/>
            <a:ext cx="7886700" cy="831672"/>
          </a:xfrm>
        </p:spPr>
        <p:txBody>
          <a:bodyPr/>
          <a:lstStyle/>
          <a:p>
            <a:r>
              <a:rPr lang="en-IN" sz="6000"/>
              <a:t>PROCESS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8D6AD-3A8A-410B-A76B-A3F86F66AE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90" t="7007" r="13489" b="13781"/>
          <a:stretch/>
        </p:blipFill>
        <p:spPr>
          <a:xfrm>
            <a:off x="852585" y="2161017"/>
            <a:ext cx="7848000" cy="371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7518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4F0597-F459-06C1-13CA-3DAE4756C1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68" t="10934" r="31362" b="13336"/>
          <a:stretch>
            <a:fillRect/>
          </a:stretch>
        </p:blipFill>
        <p:spPr>
          <a:xfrm>
            <a:off x="167943" y="816096"/>
            <a:ext cx="2279358" cy="2304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E3EA72-74CD-D2F8-C8FA-CB2B83A6DA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51" t="8374" r="21097" b="18191"/>
          <a:stretch>
            <a:fillRect/>
          </a:stretch>
        </p:blipFill>
        <p:spPr>
          <a:xfrm>
            <a:off x="2973731" y="816096"/>
            <a:ext cx="3193265" cy="2304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6D7D81-E242-209B-12FD-F775206467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37" r="5870" b="1484"/>
          <a:stretch>
            <a:fillRect/>
          </a:stretch>
        </p:blipFill>
        <p:spPr>
          <a:xfrm>
            <a:off x="6542871" y="816096"/>
            <a:ext cx="2386741" cy="2304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D9CB04-5A57-7815-C487-13C9C21A49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28"/>
          <a:stretch>
            <a:fillRect/>
          </a:stretch>
        </p:blipFill>
        <p:spPr>
          <a:xfrm>
            <a:off x="0" y="3777363"/>
            <a:ext cx="3717468" cy="2556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64E19A-0DA7-6FDE-CC7B-4563D01781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2823" y="3597363"/>
            <a:ext cx="5501177" cy="273600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3FFEB5-E9A8-1D5D-8A8C-DAC51395404B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447301" y="1968096"/>
            <a:ext cx="526430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1BA23B8-94AA-5B09-3C40-639D6117C529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6166996" y="1968096"/>
            <a:ext cx="375875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A8C052F-4337-6E07-46B0-960C6BDF9F4B}"/>
              </a:ext>
            </a:extLst>
          </p:cNvPr>
          <p:cNvCxnSpPr>
            <a:stCxn id="12" idx="2"/>
          </p:cNvCxnSpPr>
          <p:nvPr/>
        </p:nvCxnSpPr>
        <p:spPr>
          <a:xfrm>
            <a:off x="7736242" y="3120096"/>
            <a:ext cx="8166" cy="57482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717343C-AEC1-33DC-3A05-1D74874D02BA}"/>
              </a:ext>
            </a:extLst>
          </p:cNvPr>
          <p:cNvSpPr txBox="1"/>
          <p:nvPr/>
        </p:nvSpPr>
        <p:spPr>
          <a:xfrm>
            <a:off x="2185475" y="60806"/>
            <a:ext cx="4357396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n-ea"/>
                <a:cs typeface="+mn-cs"/>
                <a:sym typeface="Gill Sans"/>
              </a:rPr>
              <a:t>OUR WEBSITE FLOW</a:t>
            </a:r>
          </a:p>
        </p:txBody>
      </p:sp>
    </p:spTree>
    <p:extLst>
      <p:ext uri="{BB962C8B-B14F-4D97-AF65-F5344CB8AC3E}">
        <p14:creationId xmlns:p14="http://schemas.microsoft.com/office/powerpoint/2010/main" val="1537913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75E01-268B-8659-4DDC-3640A79C88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9279" y="316894"/>
            <a:ext cx="7886700" cy="831672"/>
          </a:xfrm>
        </p:spPr>
        <p:txBody>
          <a:bodyPr/>
          <a:lstStyle/>
          <a:p>
            <a:r>
              <a:rPr lang="en-IN" sz="5400"/>
              <a:t>Innovation highlights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1027E4-C5CF-4F4F-B832-069E04DC87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rcRect l="11163" t="19830" r="10000" b="13716"/>
          <a:stretch/>
        </p:blipFill>
        <p:spPr>
          <a:xfrm>
            <a:off x="373225" y="1726163"/>
            <a:ext cx="8360228" cy="435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091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BF1C2-A1D8-C991-6656-CCA2BCE58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241" y="312988"/>
            <a:ext cx="7314676" cy="832017"/>
          </a:xfrm>
        </p:spPr>
        <p:txBody>
          <a:bodyPr/>
          <a:lstStyle/>
          <a:p>
            <a:r>
              <a:rPr lang="en-IN"/>
              <a:t>advantages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0EB93-18EE-9243-CFFF-E3FAF2B3875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59837" y="1709863"/>
            <a:ext cx="4469363" cy="510823"/>
          </a:xfrm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r>
              <a:rPr lang="en-US" sz="1600">
                <a:solidFill>
                  <a:schemeClr val="bg2">
                    <a:lumMod val="25000"/>
                  </a:schemeClr>
                </a:solidFill>
                <a:latin typeface="+mn-lt"/>
                <a:ea typeface="思源黑体-思源黑体-Medium" pitchFamily="34" charset="-122"/>
                <a:cs typeface="思源黑体-思源黑体-Medium" pitchFamily="34" charset="-120"/>
              </a:rPr>
              <a:t>Helps mute and deaf people communicate effectively.</a:t>
            </a:r>
            <a:endParaRPr lang="en-US" sz="1600">
              <a:solidFill>
                <a:schemeClr val="bg2">
                  <a:lumMod val="25000"/>
                </a:schemeClr>
              </a:solidFill>
              <a:latin typeface="+mn-lt"/>
            </a:endParaRPr>
          </a:p>
          <a:p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2B0F20A-FDFF-F97E-9173-5FE8F70CE2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59837" y="2395663"/>
            <a:ext cx="4469363" cy="618125"/>
          </a:xfrm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r>
              <a:rPr lang="en-US" sz="1600">
                <a:solidFill>
                  <a:schemeClr val="bg2">
                    <a:lumMod val="25000"/>
                  </a:schemeClr>
                </a:solidFill>
                <a:latin typeface="+mn-lt"/>
                <a:ea typeface="思源黑体-思源黑体-Medium" pitchFamily="34" charset="-122"/>
                <a:cs typeface="思源黑体-思源黑体-Medium" pitchFamily="34" charset="-120"/>
              </a:rPr>
              <a:t>Works in real-time using a webcam.</a:t>
            </a:r>
            <a:endParaRPr lang="en-US" sz="1600">
              <a:solidFill>
                <a:schemeClr val="bg2">
                  <a:lumMod val="25000"/>
                </a:schemeClr>
              </a:solidFill>
              <a:latin typeface="+mn-lt"/>
            </a:endParaRPr>
          </a:p>
          <a:p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243B81C-6F8B-B16C-7DDE-1317950E80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59837" y="3191069"/>
            <a:ext cx="4469363" cy="615822"/>
          </a:xfrm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r>
              <a:rPr lang="en-US" sz="1600">
                <a:solidFill>
                  <a:schemeClr val="bg2">
                    <a:lumMod val="25000"/>
                  </a:schemeClr>
                </a:solidFill>
                <a:latin typeface="+mn-lt"/>
                <a:ea typeface="思源黑体-思源黑体-Medium" pitchFamily="34" charset="-122"/>
                <a:cs typeface="思源黑体-思源黑体-Medium" pitchFamily="34" charset="-120"/>
              </a:rPr>
              <a:t>Supports many languages and voice types.</a:t>
            </a:r>
            <a:endParaRPr lang="en-US" sz="1600">
              <a:solidFill>
                <a:schemeClr val="bg2">
                  <a:lumMod val="25000"/>
                </a:schemeClr>
              </a:solidFill>
              <a:latin typeface="+mn-lt"/>
            </a:endParaRPr>
          </a:p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911822C-FFF3-6DAE-8472-D2919AE4107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59837" y="4749282"/>
            <a:ext cx="4469363" cy="475861"/>
          </a:xfrm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r>
              <a:rPr lang="en-US" sz="1600">
                <a:solidFill>
                  <a:schemeClr val="bg2">
                    <a:lumMod val="25000"/>
                  </a:schemeClr>
                </a:solidFill>
                <a:latin typeface="+mn-lt"/>
                <a:ea typeface="思源黑体-思源黑体-Medium" pitchFamily="34" charset="-122"/>
                <a:cs typeface="思源黑体-思源黑体-Medium" pitchFamily="34" charset="-120"/>
              </a:rPr>
              <a:t>Integrates slide presentations in one place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.</a:t>
            </a:r>
            <a:endParaRPr lang="en-US" sz="1600">
              <a:solidFill>
                <a:schemeClr val="bg2">
                  <a:lumMod val="25000"/>
                </a:schemeClr>
              </a:solidFill>
            </a:endParaRPr>
          </a:p>
          <a:p>
            <a:endParaRPr lang="en-IN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CF7EB57-A563-0C91-8F24-1A2877AA9AE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59837" y="4012804"/>
            <a:ext cx="4469363" cy="521874"/>
          </a:xfrm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r>
              <a:rPr lang="en-US" sz="1600">
                <a:solidFill>
                  <a:schemeClr val="bg2">
                    <a:lumMod val="25000"/>
                  </a:schemeClr>
                </a:solidFill>
                <a:latin typeface="+mn-lt"/>
                <a:ea typeface="思源黑体-思源黑体-Medium" pitchFamily="34" charset="-122"/>
                <a:cs typeface="思源黑体-思源黑体-Medium" pitchFamily="34" charset="-120"/>
              </a:rPr>
              <a:t>Easy to use with no installation needed.</a:t>
            </a:r>
            <a:endParaRPr lang="en-US" sz="1600">
              <a:solidFill>
                <a:schemeClr val="bg2">
                  <a:lumMod val="25000"/>
                </a:schemeClr>
              </a:solidFill>
              <a:latin typeface="+mn-lt"/>
            </a:endParaRPr>
          </a:p>
          <a:p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A6523D-3DBC-2546-95AE-9B4AC891789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59837" y="5411755"/>
            <a:ext cx="4469363" cy="615822"/>
          </a:xfrm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r>
              <a:rPr lang="en-US" sz="1600">
                <a:solidFill>
                  <a:schemeClr val="bg2">
                    <a:lumMod val="25000"/>
                  </a:schemeClr>
                </a:solidFill>
                <a:latin typeface="+mn-lt"/>
                <a:ea typeface="思源黑体-思源黑体-Medium" pitchFamily="34" charset="-122"/>
                <a:cs typeface="思源黑体-思源黑体-Medium" pitchFamily="34" charset="-120"/>
              </a:rPr>
              <a:t>Encourages inclusive communication in education and workplaces.</a:t>
            </a:r>
            <a:endParaRPr lang="en-US" sz="1600">
              <a:solidFill>
                <a:schemeClr val="bg2">
                  <a:lumMod val="25000"/>
                </a:schemeClr>
              </a:solidFill>
              <a:latin typeface="+mn-lt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3409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ble">
            <a:extLst>
              <a:ext uri="{FF2B5EF4-FFF2-40B4-BE49-F238E27FC236}">
                <a16:creationId xmlns:a16="http://schemas.microsoft.com/office/drawing/2014/main" id="{D96BD823-80F5-4916-A4E6-100627BAA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9347"/>
            <a:ext cx="9144000" cy="3722914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FFF5D6-12C9-CDC7-F1D4-AB79DC3AEF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005" y="466184"/>
            <a:ext cx="7886700" cy="831672"/>
          </a:xfrm>
        </p:spPr>
        <p:txBody>
          <a:bodyPr/>
          <a:lstStyle/>
          <a:p>
            <a:r>
              <a:rPr lang="en-IN" sz="4800"/>
              <a:t>Disadvantages </a:t>
            </a:r>
            <a:r>
              <a:rPr lang="en-IN" sz="4800">
                <a:solidFill>
                  <a:schemeClr val="accent1">
                    <a:lumMod val="75000"/>
                  </a:schemeClr>
                </a:solidFill>
              </a:rPr>
              <a:t>&amp; </a:t>
            </a:r>
            <a:r>
              <a:rPr lang="en-IN" sz="4800"/>
              <a:t>how to overcome</a:t>
            </a:r>
          </a:p>
        </p:txBody>
      </p:sp>
    </p:spTree>
    <p:extLst>
      <p:ext uri="{BB962C8B-B14F-4D97-AF65-F5344CB8AC3E}">
        <p14:creationId xmlns:p14="http://schemas.microsoft.com/office/powerpoint/2010/main" val="31618303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EB794-5A02-EF13-A974-89352CC476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7352" y="410200"/>
            <a:ext cx="7886700" cy="831672"/>
          </a:xfrm>
        </p:spPr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FEFB02-090D-B473-DBE6-B432C1240A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9797" y="2507726"/>
            <a:ext cx="7940350" cy="2568128"/>
          </a:xfrm>
        </p:spPr>
        <p:txBody>
          <a:bodyPr>
            <a:normAutofit fontScale="70000" lnSpcReduction="20000"/>
          </a:bodyPr>
          <a:lstStyle/>
          <a:p>
            <a:pPr lvl="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300" b="0" i="1">
                <a:solidFill>
                  <a:schemeClr val="accent2">
                    <a:lumMod val="75000"/>
                  </a:schemeClr>
                </a:solidFill>
                <a:latin typeface="Franklin Gothic Demi" panose="020B0703020102020204" pitchFamily="34" charset="0"/>
              </a:rPr>
              <a:t>This website is a step towards inclusive and accessible tech.</a:t>
            </a:r>
            <a:br>
              <a:rPr lang="en-US" altLang="en-US" sz="3300" b="0" i="1">
                <a:solidFill>
                  <a:schemeClr val="accent2">
                    <a:lumMod val="75000"/>
                  </a:schemeClr>
                </a:solidFill>
                <a:latin typeface="Franklin Gothic Demi" panose="020B0703020102020204" pitchFamily="34" charset="0"/>
              </a:rPr>
            </a:br>
            <a:endParaRPr lang="en-US" altLang="en-US" sz="3300" b="0" i="1">
              <a:solidFill>
                <a:schemeClr val="accent2">
                  <a:lumMod val="75000"/>
                </a:schemeClr>
              </a:solidFill>
              <a:latin typeface="Franklin Gothic Demi" panose="020B0703020102020204" pitchFamily="34" charset="0"/>
            </a:endParaRPr>
          </a:p>
          <a:p>
            <a:pPr lvl="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300" b="0" i="1">
                <a:solidFill>
                  <a:schemeClr val="accent2">
                    <a:lumMod val="75000"/>
                  </a:schemeClr>
                </a:solidFill>
                <a:latin typeface="Franklin Gothic Demi" panose="020B0703020102020204" pitchFamily="34" charset="0"/>
              </a:rPr>
              <a:t>It empowers the mute/deaf community to share their ideas confidently.</a:t>
            </a:r>
            <a:br>
              <a:rPr lang="en-US" altLang="en-US" sz="3300" b="0" i="1">
                <a:solidFill>
                  <a:schemeClr val="accent2">
                    <a:lumMod val="75000"/>
                  </a:schemeClr>
                </a:solidFill>
                <a:latin typeface="Franklin Gothic Demi" panose="020B0703020102020204" pitchFamily="34" charset="0"/>
              </a:rPr>
            </a:br>
            <a:endParaRPr lang="en-US" altLang="en-US" sz="3300" b="0" i="1">
              <a:solidFill>
                <a:schemeClr val="accent2">
                  <a:lumMod val="75000"/>
                </a:schemeClr>
              </a:solidFill>
              <a:latin typeface="Franklin Gothic Demi" panose="020B0703020102020204" pitchFamily="34" charset="0"/>
            </a:endParaRPr>
          </a:p>
          <a:p>
            <a:pPr lvl="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300" b="0" i="1">
                <a:solidFill>
                  <a:schemeClr val="accent2">
                    <a:lumMod val="75000"/>
                  </a:schemeClr>
                </a:solidFill>
                <a:latin typeface="Franklin Gothic Demi" panose="020B0703020102020204" pitchFamily="34" charset="0"/>
              </a:rPr>
              <a:t>With future enhancements, it can become a universal communication tool.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2164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635D557C-0075-9DFD-4EB9-C2F877D85642}"/>
              </a:ext>
            </a:extLst>
          </p:cNvPr>
          <p:cNvSpPr/>
          <p:nvPr/>
        </p:nvSpPr>
        <p:spPr>
          <a:xfrm>
            <a:off x="2724539" y="1156997"/>
            <a:ext cx="6335485" cy="3480318"/>
          </a:xfrm>
          <a:prstGeom prst="flowChartPunchedTap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04F64-7966-BC94-22AA-2958D4E68FFA}"/>
              </a:ext>
            </a:extLst>
          </p:cNvPr>
          <p:cNvSpPr txBox="1"/>
          <p:nvPr/>
        </p:nvSpPr>
        <p:spPr>
          <a:xfrm>
            <a:off x="3228391" y="2280717"/>
            <a:ext cx="5505061" cy="14568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IN" sz="3200">
                <a:solidFill>
                  <a:srgbClr val="EB1394"/>
                </a:solidFill>
                <a:sym typeface="Gill Sans"/>
              </a:rPr>
              <a:t>Further Improvisation</a:t>
            </a:r>
            <a:br>
              <a:rPr lang="en-IN" sz="3200">
                <a:solidFill>
                  <a:srgbClr val="000000"/>
                </a:solidFill>
                <a:sym typeface="Gill Sans"/>
              </a:rPr>
            </a:br>
            <a:r>
              <a:rPr lang="en-IN" sz="2800">
                <a:solidFill>
                  <a:srgbClr val="000000"/>
                </a:solidFill>
                <a:sym typeface="Gill Sans"/>
              </a:rPr>
              <a:t>Extending our website with ability of converting speech-to-sign</a:t>
            </a: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858226-B3FD-9FEB-0730-95F51D3DC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55" b="96166" l="9585" r="89617">
                        <a14:foregroundMark x1="52396" y1="25240" x2="45687" y2="18051"/>
                        <a14:foregroundMark x1="45687" y1="18051" x2="54633" y2="15655"/>
                        <a14:foregroundMark x1="54633" y1="15655" x2="54633" y2="23802"/>
                        <a14:foregroundMark x1="54633" y1="23802" x2="51917" y2="26198"/>
                        <a14:foregroundMark x1="56070" y1="13898" x2="46805" y2="11981"/>
                        <a14:foregroundMark x1="46805" y1="11981" x2="49201" y2="4792"/>
                        <a14:foregroundMark x1="49201" y1="4792" x2="57188" y2="3195"/>
                        <a14:foregroundMark x1="57188" y1="3195" x2="63099" y2="7827"/>
                        <a14:foregroundMark x1="63099" y1="7827" x2="53035" y2="14377"/>
                        <a14:foregroundMark x1="50160" y1="5431" x2="59265" y2="3514"/>
                        <a14:foregroundMark x1="59265" y1="3514" x2="56390" y2="5911"/>
                        <a14:foregroundMark x1="37220" y1="85144" x2="36262" y2="92492"/>
                        <a14:foregroundMark x1="36262" y1="92492" x2="40895" y2="99521"/>
                        <a14:foregroundMark x1="40895" y1="99521" x2="54952" y2="99681"/>
                        <a14:foregroundMark x1="54952" y1="99681" x2="65974" y2="96166"/>
                        <a14:foregroundMark x1="65974" y1="96166" x2="65016" y2="87859"/>
                        <a14:foregroundMark x1="65016" y1="87859" x2="53674" y2="854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900404" y="2108719"/>
            <a:ext cx="4824000" cy="48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265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5153-A258-3C9C-48DC-1825C8A78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33" y="1372501"/>
            <a:ext cx="7886700" cy="1325563"/>
          </a:xfrm>
        </p:spPr>
        <p:txBody>
          <a:bodyPr/>
          <a:lstStyle/>
          <a:p>
            <a:r>
              <a:rPr lang="en-IN">
                <a:solidFill>
                  <a:schemeClr val="accent1">
                    <a:lumMod val="75000"/>
                  </a:schemeClr>
                </a:solidFill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2C7AD-5F9F-4BD0-FC8D-BFAC93C688B6}"/>
              </a:ext>
            </a:extLst>
          </p:cNvPr>
          <p:cNvSpPr txBox="1"/>
          <p:nvPr/>
        </p:nvSpPr>
        <p:spPr>
          <a:xfrm>
            <a:off x="-1156997" y="3881535"/>
            <a:ext cx="6969968" cy="30572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457200" hangingPunct="0"/>
            <a:r>
              <a:rPr lang="en-IN" sz="2400">
                <a:solidFill>
                  <a:srgbClr val="000000"/>
                </a:solidFill>
                <a:sym typeface="Gill Sans"/>
              </a:rPr>
              <a:t>Do you have any questions?</a:t>
            </a:r>
            <a:br>
              <a:rPr lang="en-IN" sz="2400">
                <a:solidFill>
                  <a:srgbClr val="000000"/>
                </a:solidFill>
                <a:sym typeface="Gill Sans"/>
              </a:rPr>
            </a:br>
            <a:br>
              <a:rPr lang="en-IN" sz="2400">
                <a:solidFill>
                  <a:srgbClr val="000000"/>
                </a:solidFill>
                <a:sym typeface="Gill Sans"/>
              </a:rPr>
            </a:br>
            <a:br>
              <a:rPr lang="en-IN" sz="2400">
                <a:solidFill>
                  <a:srgbClr val="000000"/>
                </a:solidFill>
                <a:sym typeface="Gill Sans"/>
              </a:rPr>
            </a:br>
            <a:r>
              <a:rPr lang="en-IN" sz="2400">
                <a:solidFill>
                  <a:srgbClr val="000000"/>
                </a:solidFill>
                <a:sym typeface="Gill Sans"/>
              </a:rPr>
              <a:t>Contact:</a:t>
            </a:r>
            <a:br>
              <a:rPr lang="en-IN" sz="2400">
                <a:solidFill>
                  <a:srgbClr val="000000"/>
                </a:solidFill>
                <a:sym typeface="Gill Sans"/>
              </a:rPr>
            </a:br>
            <a:r>
              <a:rPr lang="en-IN" sz="2400">
                <a:solidFill>
                  <a:srgbClr val="000000"/>
                </a:solidFill>
                <a:sym typeface="Gill Sans"/>
                <a:hlinkClick r:id="rId2"/>
              </a:rPr>
              <a:t>priyaselvan0605@gmail.com</a:t>
            </a:r>
            <a:br>
              <a:rPr lang="en-IN" sz="2400">
                <a:solidFill>
                  <a:srgbClr val="000000"/>
                </a:solidFill>
                <a:sym typeface="Gill Sans"/>
              </a:rPr>
            </a:br>
            <a:r>
              <a:rPr lang="en-IN" sz="2400">
                <a:solidFill>
                  <a:srgbClr val="000000"/>
                </a:solidFill>
                <a:sym typeface="Gill Sans"/>
                <a:hlinkClick r:id="rId3"/>
              </a:rPr>
              <a:t>rajeshwarismdu@gmail.com</a:t>
            </a:r>
            <a:br>
              <a:rPr lang="en-IN" sz="2400">
                <a:solidFill>
                  <a:srgbClr val="000000"/>
                </a:solidFill>
                <a:sym typeface="Gill Sans"/>
              </a:rPr>
            </a:br>
            <a:br>
              <a:rPr lang="en-IN" sz="2400">
                <a:solidFill>
                  <a:srgbClr val="000000"/>
                </a:solidFill>
                <a:sym typeface="Gill Sans"/>
              </a:rPr>
            </a:br>
            <a:endParaRPr kumimoji="0" lang="en-IN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68209772"/>
      </p:ext>
    </p:extLst>
  </p:cSld>
  <p:clrMapOvr>
    <a:masterClrMapping/>
  </p:clrMapOvr>
</p:sld>
</file>

<file path=ppt/theme/theme1.xml><?xml version="1.0" encoding="utf-8"?>
<a:theme xmlns:a="http://schemas.openxmlformats.org/drawingml/2006/main" name="Watercolor Theme">
  <a:themeElements>
    <a:clrScheme name="Watercolor Wedding">
      <a:dk1>
        <a:srgbClr val="818B8A"/>
      </a:dk1>
      <a:lt1>
        <a:srgbClr val="FFFFFF"/>
      </a:lt1>
      <a:dk2>
        <a:srgbClr val="17A1AB"/>
      </a:dk2>
      <a:lt2>
        <a:srgbClr val="D6D5D5"/>
      </a:lt2>
      <a:accent1>
        <a:srgbClr val="0C4A80"/>
      </a:accent1>
      <a:accent2>
        <a:srgbClr val="0D6397"/>
      </a:accent2>
      <a:accent3>
        <a:srgbClr val="1E83A9"/>
      </a:accent3>
      <a:accent4>
        <a:srgbClr val="478FB1"/>
      </a:accent4>
      <a:accent5>
        <a:srgbClr val="8CB8D1"/>
      </a:accent5>
      <a:accent6>
        <a:srgbClr val="C9E6F1"/>
      </a:accent6>
      <a:hlink>
        <a:srgbClr val="0000FF"/>
      </a:hlink>
      <a:folHlink>
        <a:srgbClr val="FF00FF"/>
      </a:folHlink>
    </a:clrScheme>
    <a:fontScheme name="_Water color Wash 2">
      <a:majorFont>
        <a:latin typeface="Franklin Gothic Medium Cond"/>
        <a:ea typeface="Gill Sans"/>
        <a:cs typeface="Gill Sans"/>
      </a:majorFont>
      <a:minorFont>
        <a:latin typeface="Franklin Gothic Book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f56550644_win32_fixed" id="{627B62D5-4D79-4A6D-99BA-54E059AD6215}" vid="{B374CE13-22A3-412A-9793-F013EE1726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02D24AA-DCC5-4B9B-81ED-FE092F6A34C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499F06F-110D-421D-8209-69F6D19CE9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A40627-4075-46BD-A9BE-DC3C2A67087C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Watercolor wash wedding signs</Template>
  <Application>Microsoft Office PowerPoint</Application>
  <PresentationFormat>Letter Paper (8.5x11 in)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Watercolor Theme</vt:lpstr>
      <vt:lpstr>Sign2speak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Sign2speak</dc:title>
  <dc:creator>Kishore Bharathi</dc:creator>
  <cp:lastModifiedBy>priyaselvan0605@gmail.com</cp:lastModifiedBy>
  <cp:revision>1</cp:revision>
  <dcterms:created xsi:type="dcterms:W3CDTF">2025-10-12T12:51:05Z</dcterms:created>
  <dcterms:modified xsi:type="dcterms:W3CDTF">2025-10-12T15:04:56Z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