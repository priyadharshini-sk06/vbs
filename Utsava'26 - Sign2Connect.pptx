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3" r:id="rId6"/>
    <p:sldId id="264" r:id="rId7"/>
    <p:sldId id="262" r:id="rId8"/>
    <p:sldId id="265" r:id="rId9"/>
  </p:sldIdLst>
  <p:sldSz cx="18288000" cy="10287000"/>
  <p:notesSz cx="6858000" cy="9144000"/>
  <p:embeddedFontLst>
    <p:embeddedFont>
      <p:font typeface="Arial Narrow" panose="020B0606020202030204" pitchFamily="34" charset="0"/>
      <p:regular r:id="rId10"/>
      <p:bold r:id="rId11"/>
      <p:italic r:id="rId12"/>
      <p:boldItalic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  <p:embeddedFont>
      <p:font typeface="Clear Sans" panose="020B0604020202020204" charset="0"/>
      <p:regular r:id="rId18"/>
    </p:embeddedFont>
    <p:embeddedFont>
      <p:font typeface="Clear Sans Bold" panose="020B0604020202020204" charset="0"/>
      <p:regular r:id="rId19"/>
    </p:embeddedFont>
    <p:embeddedFont>
      <p:font typeface="Perpetua" panose="02020502060401020303" pitchFamily="18" charset="0"/>
      <p:regular r:id="rId20"/>
      <p:bold r:id="rId21"/>
      <p:italic r:id="rId22"/>
      <p:boldItalic r:id="rId23"/>
    </p:embeddedFont>
    <p:embeddedFont>
      <p:font typeface="Sansation Bold" panose="020B0604020202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516" y="-21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font" Target="fonts/font15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font" Target="fonts/font14.fntdata"/><Relationship Id="rId28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5.fntdata"/><Relationship Id="rId22" Type="http://schemas.openxmlformats.org/officeDocument/2006/relationships/font" Target="fonts/font13.fntdata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14.jpeg"/><Relationship Id="rId4" Type="http://schemas.openxmlformats.org/officeDocument/2006/relationships/image" Target="../media/image8.png"/><Relationship Id="rId9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10" Type="http://schemas.openxmlformats.org/officeDocument/2006/relationships/image" Target="../media/image1.png"/><Relationship Id="rId4" Type="http://schemas.openxmlformats.org/officeDocument/2006/relationships/image" Target="../media/image8.png"/><Relationship Id="rId9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9.png"/><Relationship Id="rId5" Type="http://schemas.openxmlformats.org/officeDocument/2006/relationships/image" Target="../media/image9.svg"/><Relationship Id="rId10" Type="http://schemas.openxmlformats.org/officeDocument/2006/relationships/image" Target="../media/image18.png"/><Relationship Id="rId4" Type="http://schemas.openxmlformats.org/officeDocument/2006/relationships/image" Target="../media/image8.png"/><Relationship Id="rId9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mailto:priyaselvan0605@gmail.com" TargetMode="External"/><Relationship Id="rId2" Type="http://schemas.openxmlformats.org/officeDocument/2006/relationships/hyperlink" Target="mailto:keerty813@gmail.com" TargetMode="Externa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20.png"/><Relationship Id="rId4" Type="http://schemas.openxmlformats.org/officeDocument/2006/relationships/hyperlink" Target="mailto:rajeshwarismdu@gmail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572000" y="576016"/>
            <a:ext cx="8682284" cy="8682284"/>
          </a:xfrm>
          <a:custGeom>
            <a:avLst/>
            <a:gdLst/>
            <a:ahLst/>
            <a:cxnLst/>
            <a:rect l="l" t="t" r="r" b="b"/>
            <a:pathLst>
              <a:path w="8682284" h="8682284">
                <a:moveTo>
                  <a:pt x="0" y="0"/>
                </a:moveTo>
                <a:lnTo>
                  <a:pt x="8682284" y="0"/>
                </a:lnTo>
                <a:lnTo>
                  <a:pt x="8682284" y="8682284"/>
                </a:lnTo>
                <a:lnTo>
                  <a:pt x="0" y="86822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5949595" y="576016"/>
            <a:ext cx="1116982" cy="2040354"/>
          </a:xfrm>
          <a:custGeom>
            <a:avLst/>
            <a:gdLst/>
            <a:ahLst/>
            <a:cxnLst/>
            <a:rect l="l" t="t" r="r" b="b"/>
            <a:pathLst>
              <a:path w="1116982" h="2040354">
                <a:moveTo>
                  <a:pt x="0" y="0"/>
                </a:moveTo>
                <a:lnTo>
                  <a:pt x="1116982" y="0"/>
                </a:lnTo>
                <a:lnTo>
                  <a:pt x="1116982" y="2040354"/>
                </a:lnTo>
                <a:lnTo>
                  <a:pt x="0" y="20403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440869" y="576016"/>
            <a:ext cx="7927120" cy="2105641"/>
          </a:xfrm>
          <a:custGeom>
            <a:avLst/>
            <a:gdLst/>
            <a:ahLst/>
            <a:cxnLst/>
            <a:rect l="l" t="t" r="r" b="b"/>
            <a:pathLst>
              <a:path w="7927120" h="2105641">
                <a:moveTo>
                  <a:pt x="0" y="0"/>
                </a:moveTo>
                <a:lnTo>
                  <a:pt x="7927120" y="0"/>
                </a:lnTo>
                <a:lnTo>
                  <a:pt x="7927120" y="2105642"/>
                </a:lnTo>
                <a:lnTo>
                  <a:pt x="0" y="21056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499430" y="2672133"/>
            <a:ext cx="11164521" cy="8568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098"/>
              </a:lnSpc>
              <a:spcBef>
                <a:spcPct val="0"/>
              </a:spcBef>
            </a:pPr>
            <a:r>
              <a:rPr lang="en-US" sz="5915" b="1" spc="177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SIGN2CONNECT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173278" y="3766658"/>
            <a:ext cx="12458436" cy="5129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20"/>
              </a:lnSpc>
              <a:spcBef>
                <a:spcPct val="0"/>
              </a:spcBef>
            </a:pPr>
            <a:r>
              <a:rPr lang="en-US" sz="3350" b="1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DIGITAL INNOVATORS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94952" y="4399556"/>
            <a:ext cx="16733677" cy="54716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197"/>
              </a:lnSpc>
            </a:pPr>
            <a:r>
              <a:rPr lang="en-US" sz="3350" b="1" u="none" strike="noStrike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TEAM NAME : Fusion Divas</a:t>
            </a:r>
          </a:p>
          <a:p>
            <a:pPr algn="l">
              <a:lnSpc>
                <a:spcPts val="6197"/>
              </a:lnSpc>
            </a:pPr>
            <a:r>
              <a:rPr lang="en-US" sz="3350" b="1" u="none" strike="noStrike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MEMBERS :</a:t>
            </a:r>
          </a:p>
          <a:p>
            <a:pPr algn="l">
              <a:lnSpc>
                <a:spcPts val="6197"/>
              </a:lnSpc>
            </a:pPr>
            <a:r>
              <a:rPr lang="en-US" sz="3350" b="1" u="none" strike="noStrike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1. </a:t>
            </a:r>
            <a:r>
              <a:rPr lang="en-US" sz="3350" b="1" u="none" strike="noStrike" spc="33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Keertana</a:t>
            </a:r>
            <a:r>
              <a:rPr lang="en-US" sz="3350" b="1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Priya A</a:t>
            </a:r>
            <a:endParaRPr lang="en-US" sz="3350" b="1" u="none" strike="noStrike" spc="33" dirty="0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l">
              <a:lnSpc>
                <a:spcPts val="6197"/>
              </a:lnSpc>
            </a:pPr>
            <a:r>
              <a:rPr lang="en-US" sz="3350" b="1" u="none" strike="noStrike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2. </a:t>
            </a:r>
            <a:r>
              <a:rPr lang="en-US" sz="3350" b="1" u="none" strike="noStrike" spc="33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Priyadharshini</a:t>
            </a:r>
            <a:r>
              <a:rPr lang="en-US" sz="3350" b="1" u="none" strike="noStrike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S K</a:t>
            </a:r>
          </a:p>
          <a:p>
            <a:pPr algn="l">
              <a:lnSpc>
                <a:spcPts val="6197"/>
              </a:lnSpc>
            </a:pPr>
            <a:r>
              <a:rPr lang="en-US" sz="3350" b="1" u="none" strike="noStrike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3. Rajeshwari S</a:t>
            </a:r>
          </a:p>
          <a:p>
            <a:pPr algn="l">
              <a:lnSpc>
                <a:spcPts val="6197"/>
              </a:lnSpc>
            </a:pPr>
            <a:r>
              <a:rPr lang="en-US" sz="3350" b="1" u="none" strike="noStrike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MENTOR NAME: </a:t>
            </a:r>
            <a:r>
              <a:rPr lang="en-US" sz="3350" b="1" u="none" strike="noStrike" spc="33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Mrs.M.Soundarya</a:t>
            </a:r>
            <a:endParaRPr lang="en-US" sz="3350" b="1" u="none" strike="noStrike" spc="33" dirty="0">
              <a:solidFill>
                <a:srgbClr val="000000"/>
              </a:solidFill>
              <a:latin typeface="Clear Sans Bold"/>
              <a:ea typeface="Clear Sans Bold"/>
              <a:cs typeface="Clear Sans Bold"/>
              <a:sym typeface="Clear Sans Bold"/>
            </a:endParaRPr>
          </a:p>
          <a:p>
            <a:pPr algn="l">
              <a:lnSpc>
                <a:spcPts val="6197"/>
              </a:lnSpc>
            </a:pPr>
            <a:r>
              <a:rPr lang="en-US" sz="3350" b="1" u="none" strike="noStrike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COLLEGE NAME: </a:t>
            </a:r>
            <a:r>
              <a:rPr lang="en-US" sz="3350" b="1" u="none" strike="noStrike" spc="33" dirty="0" err="1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Velammal</a:t>
            </a:r>
            <a:r>
              <a:rPr lang="en-US" sz="3350" b="1" u="none" strike="noStrike" spc="33" dirty="0">
                <a:solidFill>
                  <a:srgbClr val="000000"/>
                </a:solidFill>
                <a:latin typeface="Clear Sans Bold"/>
                <a:ea typeface="Clear Sans Bold"/>
                <a:cs typeface="Clear Sans Bold"/>
                <a:sym typeface="Clear Sans Bold"/>
              </a:rPr>
              <a:t> College of Engineering and Technology, Madurai</a:t>
            </a:r>
          </a:p>
        </p:txBody>
      </p:sp>
      <p:sp>
        <p:nvSpPr>
          <p:cNvPr id="8" name="Freeform 8"/>
          <p:cNvSpPr/>
          <p:nvPr/>
        </p:nvSpPr>
        <p:spPr>
          <a:xfrm>
            <a:off x="-700087" y="7548141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20999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0999"/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alphaModFix amt="20999"/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48141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604899" y="899114"/>
            <a:ext cx="8212352" cy="8212352"/>
          </a:xfrm>
          <a:custGeom>
            <a:avLst/>
            <a:gdLst/>
            <a:ahLst/>
            <a:cxnLst/>
            <a:rect l="l" t="t" r="r" b="b"/>
            <a:pathLst>
              <a:path w="8212352" h="8212352">
                <a:moveTo>
                  <a:pt x="0" y="0"/>
                </a:moveTo>
                <a:lnTo>
                  <a:pt x="8212352" y="0"/>
                </a:lnTo>
                <a:lnTo>
                  <a:pt x="8212352" y="8212352"/>
                </a:lnTo>
                <a:lnTo>
                  <a:pt x="0" y="82123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56770" y="2255573"/>
            <a:ext cx="16374460" cy="67125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Despite the importance of communication in education and workplaces, mute and deaf individuals still face exclusion due to limited sign language awareness and missing real-time support.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Current solutions rely on interpreters or typing, making live participation slow, dependent, and unsuitable for presentations or meetings.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Mute and deaf individuals are directly affected, along with students, educators, employers, organizations, and event audiences.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absence of real-time Sign-to-Speak and Speak-to-Sign systems, interpreter dependency, accuracy gaps, and privacy concerns remain key barriers.</a:t>
            </a:r>
          </a:p>
          <a:p>
            <a:pPr algn="l">
              <a:lnSpc>
                <a:spcPts val="4663"/>
              </a:lnSpc>
            </a:pPr>
            <a:endParaRPr lang="en-US" sz="3354" u="none" strike="noStrike" spc="100" dirty="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887359" y="726660"/>
            <a:ext cx="17400641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5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PROBLEM STATEMENT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48141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604899" y="899114"/>
            <a:ext cx="8212352" cy="8212352"/>
          </a:xfrm>
          <a:custGeom>
            <a:avLst/>
            <a:gdLst/>
            <a:ahLst/>
            <a:cxnLst/>
            <a:rect l="l" t="t" r="r" b="b"/>
            <a:pathLst>
              <a:path w="8212352" h="8212352">
                <a:moveTo>
                  <a:pt x="0" y="0"/>
                </a:moveTo>
                <a:lnTo>
                  <a:pt x="8212352" y="0"/>
                </a:lnTo>
                <a:lnTo>
                  <a:pt x="8212352" y="8212352"/>
                </a:lnTo>
                <a:lnTo>
                  <a:pt x="0" y="82123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97967" y="1943100"/>
            <a:ext cx="16374460" cy="79436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bridge between silence and sound that enables instant Sign-to-Speak and Speak-to-Sign communication naturally and in real time.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empower mute and deaf individuals with independent communication and create truly inclusive classrooms and workplaces.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Live two-way translation between signs and speech.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Hands-free interaction for meetings and presentations.</a:t>
            </a:r>
          </a:p>
          <a:p>
            <a:pPr marL="1028700" lvl="1" indent="-571500">
              <a:buFont typeface="Wingdings" panose="05000000000000000000" pitchFamily="2" charset="2"/>
              <a:buChar char="ü"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Accessible, scalable, and user-friendly design.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It Solves the Problem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turning signs into voice and voice into visual language, it removes dependency and makes communication effortless for everyone.</a:t>
            </a:r>
          </a:p>
          <a:p>
            <a:pPr marL="362165" lvl="1" algn="l">
              <a:lnSpc>
                <a:spcPts val="4663"/>
              </a:lnSpc>
            </a:pPr>
            <a:endParaRPr lang="en-US" sz="3354" u="none" strike="noStrike" spc="100" dirty="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97967" y="726660"/>
            <a:ext cx="1616133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5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PROPOSED SOLUTION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48141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20253" y="774366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097967" y="2154598"/>
            <a:ext cx="16374460" cy="17624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62165" lvl="1" algn="l">
              <a:lnSpc>
                <a:spcPts val="4663"/>
              </a:lnSpc>
            </a:pPr>
            <a:endParaRPr lang="en-US" sz="3354" spc="100" dirty="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algn="l">
              <a:lnSpc>
                <a:spcPts val="4663"/>
              </a:lnSpc>
            </a:pPr>
            <a:endParaRPr lang="en-US" sz="3354" spc="100" dirty="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  <a:p>
            <a:pPr marL="362165" lvl="1" algn="l">
              <a:lnSpc>
                <a:spcPts val="4663"/>
              </a:lnSpc>
            </a:pPr>
            <a:endParaRPr lang="en-US" sz="3354" spc="100" dirty="0">
              <a:solidFill>
                <a:srgbClr val="3F3E3A"/>
              </a:solidFill>
              <a:latin typeface="Clear Sans"/>
              <a:ea typeface="Clear Sans"/>
              <a:cs typeface="Clear Sans"/>
              <a:sym typeface="Clear San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1097967" y="747276"/>
            <a:ext cx="16092066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50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SYSTEM ARCHITECTURE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745538F-4424-4099-980F-D5EFAC680B08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0722" t="22531" r="20135" b="11865"/>
          <a:stretch/>
        </p:blipFill>
        <p:spPr>
          <a:xfrm>
            <a:off x="2362200" y="1733012"/>
            <a:ext cx="13106400" cy="7563630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AA2A2D3E-03DB-44BE-862A-5B56623FF7CA}"/>
              </a:ext>
            </a:extLst>
          </p:cNvPr>
          <p:cNvSpPr/>
          <p:nvPr/>
        </p:nvSpPr>
        <p:spPr>
          <a:xfrm>
            <a:off x="4653135" y="1133842"/>
            <a:ext cx="8212352" cy="8212352"/>
          </a:xfrm>
          <a:custGeom>
            <a:avLst/>
            <a:gdLst/>
            <a:ahLst/>
            <a:cxnLst/>
            <a:rect l="l" t="t" r="r" b="b"/>
            <a:pathLst>
              <a:path w="8212352" h="8212352">
                <a:moveTo>
                  <a:pt x="0" y="0"/>
                </a:moveTo>
                <a:lnTo>
                  <a:pt x="8212352" y="0"/>
                </a:lnTo>
                <a:lnTo>
                  <a:pt x="8212352" y="8212352"/>
                </a:lnTo>
                <a:lnTo>
                  <a:pt x="0" y="82123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5000"/>
            </a:blip>
            <a:stretch>
              <a:fillRect/>
            </a:stretch>
          </a:blipFill>
        </p:spPr>
      </p:sp>
      <p:pic>
        <p:nvPicPr>
          <p:cNvPr id="13" name="Picture 2" descr="Sign Language Stock Illustrations ...">
            <a:extLst>
              <a:ext uri="{FF2B5EF4-FFF2-40B4-BE49-F238E27FC236}">
                <a16:creationId xmlns:a16="http://schemas.microsoft.com/office/drawing/2014/main" id="{B4749829-E70B-4A3F-AA14-C5ECDD5CCD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122404"/>
            <a:ext cx="4164596" cy="41645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48141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20253" y="774366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97967" y="747276"/>
            <a:ext cx="16092066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50" dirty="0">
                <a:solidFill>
                  <a:srgbClr val="000000"/>
                </a:solidFill>
                <a:latin typeface="Sansation Bold" panose="020B0604020202020204"/>
                <a:ea typeface="Sansation Bold" panose="020B0604020202020204"/>
                <a:cs typeface="Sansation Bold" panose="020B0604020202020204"/>
                <a:sym typeface="Sansation Bold"/>
              </a:rPr>
              <a:t>WORK FLOW AND </a:t>
            </a:r>
            <a:r>
              <a:rPr lang="en-US" sz="5000" b="1" i="0" u="none" strike="noStrike" dirty="0">
                <a:solidFill>
                  <a:srgbClr val="3F3E3A"/>
                </a:solidFill>
                <a:effectLst/>
                <a:latin typeface="Sansation Bold" panose="020B0604020202020204"/>
              </a:rPr>
              <a:t>COMPONENTS</a:t>
            </a:r>
            <a:endParaRPr lang="en-US" sz="5000" b="1" spc="50" dirty="0">
              <a:solidFill>
                <a:srgbClr val="000000"/>
              </a:solidFill>
              <a:latin typeface="Sansation Bold" panose="020B0604020202020204"/>
              <a:ea typeface="Sansation Bold" panose="020B0604020202020204"/>
              <a:cs typeface="Sansation Bold" panose="020B0604020202020204"/>
              <a:sym typeface="Sansation Bold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4D5332B-E36D-4EC2-B4E6-7A452B5AFD39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25362" t="33309" r="24783" b="32407"/>
          <a:stretch/>
        </p:blipFill>
        <p:spPr>
          <a:xfrm>
            <a:off x="1097967" y="2269198"/>
            <a:ext cx="8843993" cy="5278943"/>
          </a:xfrm>
          <a:prstGeom prst="rect">
            <a:avLst/>
          </a:prstGeom>
        </p:spPr>
      </p:pic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9D881B-2757-4EFB-B302-CCC5C4EB543F}"/>
              </a:ext>
            </a:extLst>
          </p:cNvPr>
          <p:cNvSpPr/>
          <p:nvPr/>
        </p:nvSpPr>
        <p:spPr>
          <a:xfrm>
            <a:off x="18821400" y="2269198"/>
            <a:ext cx="45719" cy="457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9AE480C-FC96-4394-8844-BC038902F4D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8593" t="14327" r="16726" b="4852"/>
          <a:stretch/>
        </p:blipFill>
        <p:spPr>
          <a:xfrm>
            <a:off x="9728601" y="2314917"/>
            <a:ext cx="7550934" cy="6038427"/>
          </a:xfrm>
          <a:prstGeom prst="rect">
            <a:avLst/>
          </a:prstGeom>
        </p:spPr>
      </p:pic>
      <p:sp>
        <p:nvSpPr>
          <p:cNvPr id="12" name="Freeform 5">
            <a:extLst>
              <a:ext uri="{FF2B5EF4-FFF2-40B4-BE49-F238E27FC236}">
                <a16:creationId xmlns:a16="http://schemas.microsoft.com/office/drawing/2014/main" id="{57F739AD-B423-46B5-9D7A-C4E71EE6DE48}"/>
              </a:ext>
            </a:extLst>
          </p:cNvPr>
          <p:cNvSpPr/>
          <p:nvPr/>
        </p:nvSpPr>
        <p:spPr>
          <a:xfrm>
            <a:off x="4667324" y="1518801"/>
            <a:ext cx="8212352" cy="8212352"/>
          </a:xfrm>
          <a:custGeom>
            <a:avLst/>
            <a:gdLst/>
            <a:ahLst/>
            <a:cxnLst/>
            <a:rect l="l" t="t" r="r" b="b"/>
            <a:pathLst>
              <a:path w="8212352" h="8212352">
                <a:moveTo>
                  <a:pt x="0" y="0"/>
                </a:moveTo>
                <a:lnTo>
                  <a:pt x="8212352" y="0"/>
                </a:lnTo>
                <a:lnTo>
                  <a:pt x="8212352" y="8212352"/>
                </a:lnTo>
                <a:lnTo>
                  <a:pt x="0" y="8212352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25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41433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48141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747276"/>
            <a:ext cx="1616133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5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TECHNOLOGY STACK AND INNOVATION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2E01847-4F04-474B-934D-BBB5CA1CE31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35946" t="19796" r="35361" b="32294"/>
          <a:stretch/>
        </p:blipFill>
        <p:spPr>
          <a:xfrm>
            <a:off x="4921339" y="1866900"/>
            <a:ext cx="8152978" cy="7911778"/>
          </a:xfrm>
          <a:prstGeom prst="rect">
            <a:avLst/>
          </a:prstGeom>
        </p:spPr>
      </p:pic>
      <p:sp>
        <p:nvSpPr>
          <p:cNvPr id="15" name="Freeform 5">
            <a:extLst>
              <a:ext uri="{FF2B5EF4-FFF2-40B4-BE49-F238E27FC236}">
                <a16:creationId xmlns:a16="http://schemas.microsoft.com/office/drawing/2014/main" id="{FD9FE84C-12F0-46AF-BBFB-BC4B847A12F3}"/>
              </a:ext>
            </a:extLst>
          </p:cNvPr>
          <p:cNvSpPr/>
          <p:nvPr/>
        </p:nvSpPr>
        <p:spPr>
          <a:xfrm>
            <a:off x="4648200" y="1716613"/>
            <a:ext cx="8212352" cy="8212352"/>
          </a:xfrm>
          <a:custGeom>
            <a:avLst/>
            <a:gdLst/>
            <a:ahLst/>
            <a:cxnLst/>
            <a:rect l="l" t="t" r="r" b="b"/>
            <a:pathLst>
              <a:path w="8212352" h="8212352">
                <a:moveTo>
                  <a:pt x="0" y="0"/>
                </a:moveTo>
                <a:lnTo>
                  <a:pt x="8212352" y="0"/>
                </a:lnTo>
                <a:lnTo>
                  <a:pt x="8212352" y="8212352"/>
                </a:lnTo>
                <a:lnTo>
                  <a:pt x="0" y="82123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5000"/>
            </a:blip>
            <a:stretch>
              <a:fillRect/>
            </a:stretch>
          </a:blipFill>
        </p:spPr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4E9994-10BC-42E5-8A5A-FCD8B5F79241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l="34190" t="25004" r="33018" b="20838"/>
          <a:stretch/>
        </p:blipFill>
        <p:spPr>
          <a:xfrm>
            <a:off x="4104937" y="1518801"/>
            <a:ext cx="8969380" cy="8328710"/>
          </a:xfrm>
          <a:prstGeom prst="rect">
            <a:avLst/>
          </a:prstGeom>
        </p:spPr>
      </p:pic>
      <p:sp>
        <p:nvSpPr>
          <p:cNvPr id="17" name="Freeform 5">
            <a:extLst>
              <a:ext uri="{FF2B5EF4-FFF2-40B4-BE49-F238E27FC236}">
                <a16:creationId xmlns:a16="http://schemas.microsoft.com/office/drawing/2014/main" id="{771328B1-6D97-42B9-8B00-ED524304B666}"/>
              </a:ext>
            </a:extLst>
          </p:cNvPr>
          <p:cNvSpPr/>
          <p:nvPr/>
        </p:nvSpPr>
        <p:spPr>
          <a:xfrm>
            <a:off x="4501401" y="1463797"/>
            <a:ext cx="8212352" cy="8212352"/>
          </a:xfrm>
          <a:custGeom>
            <a:avLst/>
            <a:gdLst/>
            <a:ahLst/>
            <a:cxnLst/>
            <a:rect l="l" t="t" r="r" b="b"/>
            <a:pathLst>
              <a:path w="8212352" h="8212352">
                <a:moveTo>
                  <a:pt x="0" y="0"/>
                </a:moveTo>
                <a:lnTo>
                  <a:pt x="8212352" y="0"/>
                </a:lnTo>
                <a:lnTo>
                  <a:pt x="8212352" y="8212352"/>
                </a:lnTo>
                <a:lnTo>
                  <a:pt x="0" y="82123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5000"/>
            </a:blip>
            <a:stretch>
              <a:fillRect/>
            </a:stretch>
          </a:blipFill>
        </p:spPr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6DA48FDF-F6C8-419F-A6D3-8FB731F601B8}"/>
              </a:ext>
            </a:extLst>
          </p:cNvPr>
          <p:cNvPicPr>
            <a:picLocks noChangeAspect="1"/>
          </p:cNvPicPr>
          <p:nvPr/>
        </p:nvPicPr>
        <p:blipFill rotWithShape="1">
          <a:blip r:embed="rId11"/>
          <a:srcRect l="29500" t="33338" r="36894" b="37498"/>
          <a:stretch/>
        </p:blipFill>
        <p:spPr>
          <a:xfrm>
            <a:off x="2827065" y="2362813"/>
            <a:ext cx="12560379" cy="6640686"/>
          </a:xfrm>
          <a:prstGeom prst="rect">
            <a:avLst/>
          </a:prstGeom>
        </p:spPr>
      </p:pic>
      <p:sp>
        <p:nvSpPr>
          <p:cNvPr id="26" name="Freeform 5">
            <a:extLst>
              <a:ext uri="{FF2B5EF4-FFF2-40B4-BE49-F238E27FC236}">
                <a16:creationId xmlns:a16="http://schemas.microsoft.com/office/drawing/2014/main" id="{327E828F-B54F-437C-8F29-FDD6B0771058}"/>
              </a:ext>
            </a:extLst>
          </p:cNvPr>
          <p:cNvSpPr/>
          <p:nvPr/>
        </p:nvSpPr>
        <p:spPr>
          <a:xfrm>
            <a:off x="4333820" y="1611905"/>
            <a:ext cx="8212352" cy="8212352"/>
          </a:xfrm>
          <a:custGeom>
            <a:avLst/>
            <a:gdLst/>
            <a:ahLst/>
            <a:cxnLst/>
            <a:rect l="l" t="t" r="r" b="b"/>
            <a:pathLst>
              <a:path w="8212352" h="8212352">
                <a:moveTo>
                  <a:pt x="0" y="0"/>
                </a:moveTo>
                <a:lnTo>
                  <a:pt x="8212352" y="0"/>
                </a:lnTo>
                <a:lnTo>
                  <a:pt x="8212352" y="8212352"/>
                </a:lnTo>
                <a:lnTo>
                  <a:pt x="0" y="8212352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alphaModFix amt="25000"/>
            </a:blip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467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xit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E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700087" y="7548141"/>
            <a:ext cx="3596109" cy="3596109"/>
          </a:xfrm>
          <a:custGeom>
            <a:avLst/>
            <a:gdLst/>
            <a:ahLst/>
            <a:cxnLst/>
            <a:rect l="l" t="t" r="r" b="b"/>
            <a:pathLst>
              <a:path w="3596109" h="3596109">
                <a:moveTo>
                  <a:pt x="0" y="0"/>
                </a:moveTo>
                <a:lnTo>
                  <a:pt x="3596108" y="0"/>
                </a:lnTo>
                <a:lnTo>
                  <a:pt x="3596108" y="3596109"/>
                </a:lnTo>
                <a:lnTo>
                  <a:pt x="0" y="3596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6120253" y="7788247"/>
            <a:ext cx="3216752" cy="3205055"/>
          </a:xfrm>
          <a:custGeom>
            <a:avLst/>
            <a:gdLst/>
            <a:ahLst/>
            <a:cxnLst/>
            <a:rect l="l" t="t" r="r" b="b"/>
            <a:pathLst>
              <a:path w="3216752" h="3205055">
                <a:moveTo>
                  <a:pt x="0" y="0"/>
                </a:moveTo>
                <a:lnTo>
                  <a:pt x="3216752" y="0"/>
                </a:lnTo>
                <a:lnTo>
                  <a:pt x="3216752" y="3205054"/>
                </a:lnTo>
                <a:lnTo>
                  <a:pt x="0" y="320505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20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631714" y="8285665"/>
            <a:ext cx="2096915" cy="682451"/>
          </a:xfrm>
          <a:custGeom>
            <a:avLst/>
            <a:gdLst/>
            <a:ahLst/>
            <a:cxnLst/>
            <a:rect l="l" t="t" r="r" b="b"/>
            <a:pathLst>
              <a:path w="2096915" h="682451">
                <a:moveTo>
                  <a:pt x="0" y="0"/>
                </a:moveTo>
                <a:lnTo>
                  <a:pt x="2096915" y="0"/>
                </a:lnTo>
                <a:lnTo>
                  <a:pt x="2096915" y="682451"/>
                </a:lnTo>
                <a:lnTo>
                  <a:pt x="0" y="68245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0999"/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028700" y="747276"/>
            <a:ext cx="16161333" cy="771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6000"/>
              </a:lnSpc>
              <a:spcBef>
                <a:spcPct val="0"/>
              </a:spcBef>
            </a:pPr>
            <a:r>
              <a:rPr lang="en-US" sz="5000" b="1" spc="50" dirty="0">
                <a:solidFill>
                  <a:srgbClr val="000000"/>
                </a:solidFill>
                <a:latin typeface="Sansation Bold"/>
                <a:ea typeface="Sansation Bold"/>
                <a:cs typeface="Sansation Bold"/>
                <a:sym typeface="Sansation Bold"/>
              </a:rPr>
              <a:t>IMPACT AND FUTURE SCOPE</a:t>
            </a:r>
          </a:p>
        </p:txBody>
      </p:sp>
      <p:sp>
        <p:nvSpPr>
          <p:cNvPr id="8" name="Flowchart: Alternate Process 7">
            <a:extLst>
              <a:ext uri="{FF2B5EF4-FFF2-40B4-BE49-F238E27FC236}">
                <a16:creationId xmlns:a16="http://schemas.microsoft.com/office/drawing/2014/main" id="{73CA466F-82C0-43CC-B3E2-B93D6C6ABC25}"/>
              </a:ext>
            </a:extLst>
          </p:cNvPr>
          <p:cNvSpPr/>
          <p:nvPr/>
        </p:nvSpPr>
        <p:spPr>
          <a:xfrm>
            <a:off x="1545697" y="2242259"/>
            <a:ext cx="4491622" cy="745120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Impact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Encourages independent and inclusive communication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Strengthens accessibility in education and public speaking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Impact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Advances real-time speak-to-sign interaction systems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Promotes hands-free intelligent technologies</a:t>
            </a:r>
          </a:p>
          <a:p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Impact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Minimizes reliance on human interpreters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Offers an affordable, scalable assistive solution</a:t>
            </a: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E97A3C3C-35C7-4E78-B323-C37C214DAD2E}"/>
              </a:ext>
            </a:extLst>
          </p:cNvPr>
          <p:cNvSpPr/>
          <p:nvPr/>
        </p:nvSpPr>
        <p:spPr>
          <a:xfrm>
            <a:off x="6967331" y="2242259"/>
            <a:ext cx="4646345" cy="745120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Deaf and mute community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Teachers, students, and presenters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Inclusive organizations and institutions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Expansion &amp; Scalability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 for multiple sign and spoken languages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deployment for global reach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virtual meetings and e-learning systems</a:t>
            </a:r>
          </a:p>
        </p:txBody>
      </p:sp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12D2AF1A-78B1-43E2-9B3B-7D9D6F8092D6}"/>
              </a:ext>
            </a:extLst>
          </p:cNvPr>
          <p:cNvSpPr/>
          <p:nvPr/>
        </p:nvSpPr>
        <p:spPr>
          <a:xfrm>
            <a:off x="12543688" y="2242259"/>
            <a:ext cx="4646345" cy="7451205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&amp; Impact</a:t>
            </a:r>
          </a:p>
          <a:p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🎤➡️🤟 Bidirectional Speak-to-Sign Communication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🧠📈 Enhanced Recognition Accuracy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😊🔊 Emotion-Sensitive Natural Speech Output</a:t>
            </a:r>
            <a:b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📱 Cross-Platform Mobile Solution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Freeform 5">
            <a:extLst>
              <a:ext uri="{FF2B5EF4-FFF2-40B4-BE49-F238E27FC236}">
                <a16:creationId xmlns:a16="http://schemas.microsoft.com/office/drawing/2014/main" id="{9B7CA55C-7251-4551-A947-61C3A4885229}"/>
              </a:ext>
            </a:extLst>
          </p:cNvPr>
          <p:cNvSpPr/>
          <p:nvPr/>
        </p:nvSpPr>
        <p:spPr>
          <a:xfrm>
            <a:off x="4766604" y="1327372"/>
            <a:ext cx="8212352" cy="8212352"/>
          </a:xfrm>
          <a:custGeom>
            <a:avLst/>
            <a:gdLst/>
            <a:ahLst/>
            <a:cxnLst/>
            <a:rect l="l" t="t" r="r" b="b"/>
            <a:pathLst>
              <a:path w="8212352" h="8212352">
                <a:moveTo>
                  <a:pt x="0" y="0"/>
                </a:moveTo>
                <a:lnTo>
                  <a:pt x="8212352" y="0"/>
                </a:lnTo>
                <a:lnTo>
                  <a:pt x="8212352" y="8212352"/>
                </a:lnTo>
                <a:lnTo>
                  <a:pt x="0" y="821235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25000"/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Box 75">
            <a:extLst>
              <a:ext uri="{FF2B5EF4-FFF2-40B4-BE49-F238E27FC236}">
                <a16:creationId xmlns:a16="http://schemas.microsoft.com/office/drawing/2014/main" id="{1E641C2F-6B29-42EE-81A5-BB0F14B10A7A}"/>
              </a:ext>
            </a:extLst>
          </p:cNvPr>
          <p:cNvSpPr txBox="1"/>
          <p:nvPr/>
        </p:nvSpPr>
        <p:spPr>
          <a:xfrm>
            <a:off x="1217530" y="1884581"/>
            <a:ext cx="748272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latin typeface="Perpetua" panose="02020502060401020303" pitchFamily="18" charset="0"/>
              </a:rPr>
              <a:t>THANK YOU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B6A78FA9-7D1A-40E1-A52D-C2F62EAC3A1F}"/>
              </a:ext>
            </a:extLst>
          </p:cNvPr>
          <p:cNvSpPr txBox="1"/>
          <p:nvPr/>
        </p:nvSpPr>
        <p:spPr>
          <a:xfrm>
            <a:off x="1217530" y="3924300"/>
            <a:ext cx="8587611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" sz="4400" dirty="0">
                <a:latin typeface="Arial Narrow" panose="020B0606020202030204" pitchFamily="34" charset="0"/>
              </a:rPr>
              <a:t>Do you have any questions?</a:t>
            </a:r>
          </a:p>
          <a:p>
            <a:r>
              <a:rPr lang="en" sz="4400" dirty="0">
                <a:latin typeface="Arial Narrow" panose="020B0606020202030204" pitchFamily="34" charset="0"/>
              </a:rPr>
              <a:t>Contact: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sz="4400" dirty="0">
                <a:latin typeface="Arial Narrow" panose="020B0606020202030204" pitchFamily="34" charset="0"/>
                <a:hlinkClick r:id="rId2"/>
              </a:rPr>
              <a:t>keerty813@gmail.com</a:t>
            </a:r>
            <a:r>
              <a:rPr lang="en" sz="4400" dirty="0">
                <a:latin typeface="Arial Narrow" panose="020B0606020202030204" pitchFamily="34" charset="0"/>
              </a:rPr>
              <a:t> 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sz="4400" dirty="0">
                <a:latin typeface="Arial Narrow" panose="020B0606020202030204" pitchFamily="34" charset="0"/>
                <a:hlinkClick r:id="rId3"/>
              </a:rPr>
              <a:t>priyaselvan0605@gmail.com</a:t>
            </a:r>
            <a:endParaRPr lang="en" sz="4400" dirty="0">
              <a:latin typeface="Arial Narrow" panose="020B0606020202030204" pitchFamily="34" charset="0"/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" sz="4400" dirty="0">
                <a:latin typeface="Arial Narrow" panose="020B0606020202030204" pitchFamily="34" charset="0"/>
                <a:hlinkClick r:id="rId4"/>
              </a:rPr>
              <a:t>rajeshwarismdu@gmail.com</a:t>
            </a:r>
            <a:endParaRPr lang="en" sz="4400" dirty="0">
              <a:latin typeface="Arial Narrow" panose="020B0606020202030204" pitchFamily="34" charset="0"/>
            </a:endParaRPr>
          </a:p>
          <a:p>
            <a:endParaRPr lang="en-US" dirty="0"/>
          </a:p>
        </p:txBody>
      </p:sp>
      <p:pic>
        <p:nvPicPr>
          <p:cNvPr id="1026" name="Picture 2" descr="Sign Language Stock Illustrations ...">
            <a:extLst>
              <a:ext uri="{FF2B5EF4-FFF2-40B4-BE49-F238E27FC236}">
                <a16:creationId xmlns:a16="http://schemas.microsoft.com/office/drawing/2014/main" id="{0423E135-D762-406E-A7C7-95EA533252A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674"/>
          <a:stretch/>
        </p:blipFill>
        <p:spPr bwMode="auto">
          <a:xfrm>
            <a:off x="11639359" y="1597847"/>
            <a:ext cx="6441252" cy="6288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0" name="Freeform 5">
            <a:extLst>
              <a:ext uri="{FF2B5EF4-FFF2-40B4-BE49-F238E27FC236}">
                <a16:creationId xmlns:a16="http://schemas.microsoft.com/office/drawing/2014/main" id="{964D0772-AB9E-43FA-8D37-7CADD5C00C99}"/>
              </a:ext>
            </a:extLst>
          </p:cNvPr>
          <p:cNvSpPr/>
          <p:nvPr/>
        </p:nvSpPr>
        <p:spPr>
          <a:xfrm>
            <a:off x="4532930" y="1119420"/>
            <a:ext cx="8211312" cy="8211312"/>
          </a:xfrm>
          <a:custGeom>
            <a:avLst/>
            <a:gdLst/>
            <a:ahLst/>
            <a:cxnLst/>
            <a:rect l="l" t="t" r="r" b="b"/>
            <a:pathLst>
              <a:path w="8212352" h="8212352">
                <a:moveTo>
                  <a:pt x="0" y="0"/>
                </a:moveTo>
                <a:lnTo>
                  <a:pt x="8212352" y="0"/>
                </a:lnTo>
                <a:lnTo>
                  <a:pt x="8212352" y="8212352"/>
                </a:lnTo>
                <a:lnTo>
                  <a:pt x="0" y="821235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25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2481959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470</TotalTime>
  <Words>378</Words>
  <Application>Microsoft Office PowerPoint</Application>
  <PresentationFormat>Custom</PresentationFormat>
  <Paragraphs>59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Sansation Bold</vt:lpstr>
      <vt:lpstr>Arial</vt:lpstr>
      <vt:lpstr>Clear Sans</vt:lpstr>
      <vt:lpstr>Clear Sans Bold</vt:lpstr>
      <vt:lpstr>Arial Narrow</vt:lpstr>
      <vt:lpstr>Perpetua</vt:lpstr>
      <vt:lpstr>Times New Roman</vt:lpstr>
      <vt:lpstr>Wingdings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Utsava'26 - Paper&amp;Project Template</dc:title>
  <cp:lastModifiedBy>Rajeshwari S</cp:lastModifiedBy>
  <cp:revision>13</cp:revision>
  <dcterms:created xsi:type="dcterms:W3CDTF">2006-08-16T00:00:00Z</dcterms:created>
  <dcterms:modified xsi:type="dcterms:W3CDTF">2026-01-28T17:01:20Z</dcterms:modified>
  <dc:identifier>DAG-3wFvLRc</dc:identifier>
</cp:coreProperties>
</file>